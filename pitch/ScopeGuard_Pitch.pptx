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ok" id="{2c7a76e0-5ead-0c1a-302f-657928887fc1}">
          <p14:sldIdLst>
            <p14:sldId id="256"/>
          </p14:sldIdLst>
        </p14:section>
        <p14:section name="Problem and solution" id="{b66896a2-12d7-3af0-fd7c-3e36679b9cde}">
          <p14:sldIdLst>
            <p14:sldId id="257"/>
            <p14:sldId id="258"/>
            <p14:sldId id="259"/>
          </p14:sldIdLst>
        </p14:section>
        <p14:section name="Proof" id="{7a9e2a2a-855e-0dd1-8a92-6f799277f068}">
          <p14:sldIdLst>
            <p14:sldId id="260"/>
            <p14:sldId id="261"/>
            <p14:sldId id="262"/>
          </p14:sldIdLst>
        </p14:section>
        <p14:section name="Close" id="{c5613f09-2546-33fe-b07a-699b96faf89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9AA9C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9AA9C2"/>
                </a:solidFill>
                <a:latin typeface="+mn-lt"/>
              </a:rPr>
              <a:t>Sales-by-region task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Requested by rejected plan (estimate)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[&gt;=1000]#\,##0;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2F6F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Customer records</c:v>
                  </c:pt>
                  <c:pt idx="1">
                    <c:v>Personal values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5000</c:v>
                </c:pt>
                <c:pt idx="1">
                  <c:v>10000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Delivered to the model (measured)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[&gt;=1000]#\,##0;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2F6F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Customer records</c:v>
                  </c:pt>
                  <c:pt idx="1">
                    <c:v>Personal values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dLbls>
          <c:numFmt formatCode="[&gt;=1000]#\,##0;0" sourceLinked="0"/>
          <c:txPr>
            <a:bodyPr/>
            <a:lstStyle/>
            <a:p>
              <a:pPr>
                <a:defRPr b="1" i="0" strike="noStrike" sz="1600" u="none">
                  <a:solidFill>
                    <a:srgbClr val="F2F6F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2F6F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203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F2F6F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1420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One sentence: ScopeGuard lets AI agents finish the job without reading data they don't need.
On screen: the broad plan asked for 5,000 customer records and was blocked before it ran; the model received 4 regional totals and 0 personal values.
Evidence: docs/demo_results.json (Deterministic demo mode (offline), generated 2026-10-17T13:36:40+00:00). The 5,000 is a registry estimate for an unexecuted plan, not a leak that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A normal request, an abnormal amount of data. Chips are colored by the trusted registry classification: rose = PERSONAL, amber = CONFIDENTIAL, blue = INTERNAL.
5,000 synthetic customers is the demo fixture size, not a market statistic. 5,000 rows / 10,000 personal values are ESTIMATES the evaluator computes from the registry for this candidate; it was never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Simplified design contrast, not a benchmark of any specific product. Many gateways stop at a deny. ScopeGuard denies the broad plan, then completes the task on an authorized lower-exposure route.
Three independent layers: (1) deterministic policy and a trusted registry; (2) an LLM that only proposes candidate plans (its self-reported risk is ignored); (3) the gateway re-checks every MCP tools/call and inspects both result channels before anything reaches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[1:05–1:35] The agent worker is a separate process with one fixed destination: the ScopeGuard MCP endpoint (Streamable HTTP). It has no database path, no backend credential and no LLM key. The gateway re-checks every call against server-owned grant state, then calls private CRM/Analytics MCP servers over stdio (no sockets). The CRM holds a synthetic canary credential and uses it to verify its connection; the model gets only connected: true. Using a secret is not the same as exposing it.
Honest scope: application boundary, not an OS sandbox; demo personas are not production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[1:35–2:00] Ranking is deterministic and lexicographic: authorized and task-sufficient first, then lowest max classification, fewest personal values, fewest rows, fewest bytes. LLM self-reported risk is displayed but ignored.
Rows column for A/B = estimates; for C = measured aggregate rows. Evidence: Deterministic demo mode (offline). In the live run, gpt-4.1-mini proposed 3 candidates covering the same three strategies, and the same aggregate plan was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[2:00–2:55] LIVE DEMO (about 55 s). Before the talk: run_local --mode live (or deterministic), open http://127.0.0.1:8000.
1) Click 'A · Safe replan'. Point at the candidate cards: the broad CRM export is DENIED · NOT EXECUTED; aggregate is SELECTED.
2) Point at the tiles: 5,000 requested (estimate, never executed) → 0 customer records → 0 personal values → Answered.
3) Click 'B1 · Secret request': hard deny before any planner or model call. Click 'B2': connected: true only.
4) Optional: click 'Broad CRM export' under probes: denied at the gateway, 0 prohibited upstream dispatches.
FALLBACK: if the network or LLM fails, the UI labels the deterministic fallback; if the laptop fails, show docs/screenshots/*.png and say they are screenshots.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[2:55–3:20] Rose = what the rejected plan REQUESTED (registry estimate, never executed). Teal = what was DELIVERED to the model (measured at the model boundary). Both teal values are 0, so their bars have zero length.
Source: docs/demo_results.json, Deterministic demo mode (offline), generated 2026-10-17T13:36:40+00:00; fixture sha256 7136fe0a45f6…, config digest 69c06d317e3edad4. Normal run: candidates rejected = 2, gateway calls denied = 0 (rejections happen before execution). The 4/4 denials come from separate scripted compromised-agent probes.
Tests referenced in the evidence file: 137/137 Python tests · 7/7 browser E2E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[3:20–3:40] Intended users, not customers: we claim no users, savings or partners. Roadmap items are not implemented.
Close with the line on the slide, then invite questions. Point at the links: the public website (https://scopeguard-ai-shield.lovable.app/) and the code (https://github.com/Ani-Bliadze/scopeguard).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_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ScopeGuard · synthetic, task-scoped local demo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_HERO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60350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ScopeGuard · synthetic, task-scoped local demo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G_CLOS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7492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ScopeGuard · synthetic, task-scoped local demo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hyperlink" Target="https://scopeguard-ai-shield.lovable.app/" TargetMode="External"/><Relationship Id="rId6" Type="http://schemas.openxmlformats.org/officeDocument/2006/relationships/hyperlink" Target="https://github.com/Ani-Bliadze/scopeguar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Your AI agent needs an answer. Not your entire database.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ScopeGuard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The intelligent data firewall for MCP-powered agents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Measured on a synthetic 5,000-customer CRM with real MCP tool calls.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69480" y="2907792"/>
            <a:ext cx="1005840" cy="1005840"/>
          </a:xfrm>
          <a:prstGeom prst="roundRect">
            <a:avLst>
              <a:gd name="adj" fmla="val 12727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6" name="Image 0" descr="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0531" y="3088843"/>
            <a:ext cx="643738" cy="6437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86600" y="398678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agent</a:t>
            </a:r>
            <a:endParaRPr lang="en-US" sz="1400" dirty="0"/>
          </a:p>
        </p:txBody>
      </p:sp>
      <p:sp>
        <p:nvSpPr>
          <p:cNvPr id="8" name="risky path"/>
          <p:cNvSpPr/>
          <p:nvPr/>
        </p:nvSpPr>
        <p:spPr>
          <a:xfrm flipV="1">
            <a:off x="8366760" y="2103120"/>
            <a:ext cx="868680" cy="96012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dash"/>
            <a:tailEnd type="triangle"/>
          </a:ln>
        </p:spPr>
      </p:sp>
      <p:sp>
        <p:nvSpPr>
          <p:cNvPr id="9" name="safe path"/>
          <p:cNvSpPr/>
          <p:nvPr/>
        </p:nvSpPr>
        <p:spPr>
          <a:xfrm>
            <a:off x="8366760" y="3657600"/>
            <a:ext cx="868680" cy="96012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blocked card"/>
          <p:cNvSpPr/>
          <p:nvPr/>
        </p:nvSpPr>
        <p:spPr>
          <a:xfrm>
            <a:off x="9281160" y="1188720"/>
            <a:ext cx="23774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464040" y="1353312"/>
            <a:ext cx="548640" cy="548640"/>
          </a:xfrm>
          <a:prstGeom prst="roundRect">
            <a:avLst>
              <a:gd name="adj" fmla="val 23333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>
                <a:alpha val="60000"/>
              </a:schemeClr>
            </a:solidFill>
            <a:prstDash val="solid"/>
          </a:ln>
        </p:spPr>
      </p:sp>
      <p:pic>
        <p:nvPicPr>
          <p:cNvPr id="12" name="Image 1" descr="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795" y="1452067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104120" y="13258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5,000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9464040" y="20116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customer records requested by a broad plan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9464040" y="2487168"/>
            <a:ext cx="2011680" cy="274320"/>
          </a:xfrm>
          <a:prstGeom prst="roundRect">
            <a:avLst>
              <a:gd name="adj" fmla="val 60000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464040" y="2487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BLOCKED · NEVER EXECUTED</a:t>
            </a:r>
            <a:endParaRPr lang="en-US" sz="1100" dirty="0"/>
          </a:p>
        </p:txBody>
      </p:sp>
      <p:sp>
        <p:nvSpPr>
          <p:cNvPr id="17" name="safe card"/>
          <p:cNvSpPr/>
          <p:nvPr/>
        </p:nvSpPr>
        <p:spPr>
          <a:xfrm>
            <a:off x="9281160" y="3840480"/>
            <a:ext cx="23774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464040" y="4005072"/>
            <a:ext cx="548640" cy="548640"/>
          </a:xfrm>
          <a:prstGeom prst="roundRect">
            <a:avLst>
              <a:gd name="adj" fmla="val 23333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9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2795" y="410382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104120" y="3977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</a:t>
            </a:r>
            <a:endParaRPr lang="en-US" sz="3200" dirty="0"/>
          </a:p>
        </p:txBody>
      </p:sp>
      <p:sp>
        <p:nvSpPr>
          <p:cNvPr id="21" name="Text 16"/>
          <p:cNvSpPr txBox="1"/>
          <p:nvPr/>
        </p:nvSpPr>
        <p:spPr>
          <a:xfrm>
            <a:off x="9464040" y="4663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regional totals delivered to the model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9464040" y="5138928"/>
            <a:ext cx="2011680" cy="274320"/>
          </a:xfrm>
          <a:prstGeom prst="roundRect">
            <a:avLst>
              <a:gd name="adj" fmla="val 60000"/>
            </a:avLst>
          </a:prstGeom>
          <a:solidFill>
            <a:schemeClr val="accent1">
              <a:alpha val="2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46404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 PERSONAL VALUES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simple question. One very broad tool.</a:t>
            </a:r>
            <a:endParaRPr lang="en-US" sz="34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17320"/>
            <a:ext cx="3749040" cy="416052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5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287" y="1747967"/>
            <a:ext cx="362834" cy="3628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37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user asks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2377440"/>
            <a:ext cx="3291840" cy="1051560"/>
          </a:xfrm>
          <a:prstGeom prst="roundRect">
            <a:avLst>
              <a:gd name="adj" fmla="val 17391"/>
            </a:avLst>
          </a:prstGeom>
          <a:solidFill>
            <a:schemeClr val="tx1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468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“Summarize September sales by region.”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What the task needs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 regional totals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North · South · East · West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89120" y="3474720"/>
            <a:ext cx="411480" cy="0"/>
          </a:xfrm>
          <a:prstGeom prst="line">
            <a:avLst/>
          </a:prstGeom>
          <a:noFill/>
          <a:ln w="317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3" name="broad call card"/>
          <p:cNvSpPr/>
          <p:nvPr/>
        </p:nvSpPr>
        <p:spPr>
          <a:xfrm>
            <a:off x="4892040" y="1417320"/>
            <a:ext cx="674827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120640" y="164592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>
                <a:alpha val="60000"/>
              </a:schemeClr>
            </a:solidFill>
            <a:prstDash val="solid"/>
          </a:ln>
        </p:spPr>
      </p:sp>
      <p:pic>
        <p:nvPicPr>
          <p:cNvPr id="15" name="Image 1" descr="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687" y="1747967"/>
            <a:ext cx="362834" cy="36283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80644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What a broad CRM tool call requests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120640" y="233172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crm.get_customers(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fields=[region, email, synthetic_personal_id,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total_spend_cents],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month="2026-09", limit=5000)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120640" y="365760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120640" y="36576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053328" y="3657600"/>
            <a:ext cx="73152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053328" y="36576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94576" y="3657600"/>
            <a:ext cx="219456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94576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synthetic_personal_id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9198864" y="365760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1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98864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total_spend_cents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5120640" y="42062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</a:t>
            </a:r>
            <a:endParaRPr lang="en-US" sz="4000" dirty="0"/>
          </a:p>
        </p:txBody>
      </p:sp>
      <p:sp>
        <p:nvSpPr>
          <p:cNvPr id="27" name="Text 23"/>
          <p:cNvSpPr txBox="1"/>
          <p:nvPr/>
        </p:nvSpPr>
        <p:spPr>
          <a:xfrm>
            <a:off x="512064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customer rows requested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7680960" y="4206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10,000</a:t>
            </a:r>
            <a:endParaRPr lang="en-US" sz="4000" dirty="0"/>
          </a:p>
        </p:txBody>
      </p:sp>
      <p:sp>
        <p:nvSpPr>
          <p:cNvPr id="29" name="Text 25"/>
          <p:cNvSpPr txBox="1"/>
          <p:nvPr/>
        </p:nvSpPr>
        <p:spPr>
          <a:xfrm>
            <a:off x="768096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personal values requested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9692640" y="4407408"/>
            <a:ext cx="173736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692640" y="440740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max class: PERSONAL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77240" y="5715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task needs regional totals; the tool exposes thousands of customer records.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Block, replan, complete</a:t>
            </a:r>
            <a:endParaRPr lang="en-US" sz="3400" dirty="0"/>
          </a:p>
        </p:txBody>
      </p:sp>
      <p:sp>
        <p:nvSpPr>
          <p:cNvPr id="3" name="traditional card"/>
          <p:cNvSpPr/>
          <p:nvPr/>
        </p:nvSpPr>
        <p:spPr>
          <a:xfrm>
            <a:off x="548640" y="137160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72768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>
                <a:alpha val="60000"/>
              </a:schemeClr>
            </a:solidFill>
            <a:prstDash val="solid"/>
          </a:ln>
        </p:spPr>
      </p:sp>
      <p:pic>
        <p:nvPicPr>
          <p:cNvPr id="5" name="Image 0" descr="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663294"/>
            <a:ext cx="321869" cy="3218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Traditional gateway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28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Block and stop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697480"/>
            <a:ext cx="1417320" cy="566928"/>
          </a:xfrm>
          <a:prstGeom prst="roundRect">
            <a:avLst>
              <a:gd name="adj" fmla="val 193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974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Broad request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240280" y="2980944"/>
            <a:ext cx="25603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60320" y="2697480"/>
            <a:ext cx="1188720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60320" y="2697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Blocked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794760" y="2980944"/>
            <a:ext cx="25603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114800" y="2697480"/>
            <a:ext cx="1325880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26974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Task fails</a:t>
            </a:r>
            <a:endParaRPr lang="en-US" sz="1500" dirty="0"/>
          </a:p>
        </p:txBody>
      </p:sp>
      <p:sp>
        <p:nvSpPr>
          <p:cNvPr id="16" name="scopeguard card"/>
          <p:cNvSpPr/>
          <p:nvPr/>
        </p:nvSpPr>
        <p:spPr>
          <a:xfrm>
            <a:off x="6291072" y="137160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9672" y="1572768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8" name="Image 1" descr="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1663294"/>
            <a:ext cx="321869" cy="321869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59752" y="1536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ScopeGuard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159752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Block, replan, complete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519672" y="2697480"/>
            <a:ext cx="1188720" cy="566928"/>
          </a:xfrm>
          <a:prstGeom prst="roundRect">
            <a:avLst>
              <a:gd name="adj" fmla="val 193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19672" y="2697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Broad request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754112" y="2980944"/>
            <a:ext cx="18288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8001000" y="2697480"/>
            <a:ext cx="868680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1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01000" y="26974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Blocked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915400" y="2980944"/>
            <a:ext cx="18288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9162288" y="2697480"/>
            <a:ext cx="1005840" cy="566928"/>
          </a:xfrm>
          <a:prstGeom prst="roundRect">
            <a:avLst>
              <a:gd name="adj" fmla="val 19355"/>
            </a:avLst>
          </a:prstGeom>
          <a:solidFill>
            <a:schemeClr val="accent3">
              <a:alpha val="1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62288" y="26974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Replanned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10213848" y="2980944"/>
            <a:ext cx="182880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10460736" y="2697480"/>
            <a:ext cx="960120" cy="566928"/>
          </a:xfrm>
          <a:prstGeom prst="roundRect">
            <a:avLst>
              <a:gd name="adj" fmla="val 19355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460736" y="26974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Answered</a:t>
            </a:r>
            <a:endParaRPr lang="en-US" sz="1400" dirty="0"/>
          </a:p>
        </p:txBody>
      </p:sp>
      <p:sp>
        <p:nvSpPr>
          <p:cNvPr id="32" name="layer 1"/>
          <p:cNvSpPr/>
          <p:nvPr/>
        </p:nvSpPr>
        <p:spPr>
          <a:xfrm>
            <a:off x="548640" y="3886200"/>
            <a:ext cx="3447288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49808" y="406908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34" name="Image 2" descr="scro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" y="4164543"/>
            <a:ext cx="339425" cy="339425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417320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1. Hard policy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749808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Admin-owned rules outside the LLM. Secrets are never disclosed.</a:t>
            </a:r>
            <a:endParaRPr lang="en-US" sz="1500" dirty="0"/>
          </a:p>
        </p:txBody>
      </p:sp>
      <p:sp>
        <p:nvSpPr>
          <p:cNvPr id="37" name="Shape 32"/>
          <p:cNvSpPr/>
          <p:nvPr/>
        </p:nvSpPr>
        <p:spPr>
          <a:xfrm>
            <a:off x="4023360" y="4727448"/>
            <a:ext cx="329184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8" name="layer 2"/>
          <p:cNvSpPr/>
          <p:nvPr/>
        </p:nvSpPr>
        <p:spPr>
          <a:xfrm>
            <a:off x="4370832" y="3886200"/>
            <a:ext cx="3447288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4572000" y="406908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5">
              <a:alpha val="18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40" name="Image 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463" y="4164543"/>
            <a:ext cx="339425" cy="339425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5239512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2. AI candidate planning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4572000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 LLM proposes plans from an approved catalog. It never authorizes.</a:t>
            </a:r>
            <a:endParaRPr lang="en-US" sz="1500" dirty="0"/>
          </a:p>
        </p:txBody>
      </p:sp>
      <p:sp>
        <p:nvSpPr>
          <p:cNvPr id="43" name="Shape 37"/>
          <p:cNvSpPr/>
          <p:nvPr/>
        </p:nvSpPr>
        <p:spPr>
          <a:xfrm>
            <a:off x="7845552" y="4727448"/>
            <a:ext cx="329184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44" name="layer 3"/>
          <p:cNvSpPr/>
          <p:nvPr/>
        </p:nvSpPr>
        <p:spPr>
          <a:xfrm>
            <a:off x="8193024" y="3886200"/>
            <a:ext cx="3447288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394192" y="406908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46" name="Image 4" descr="fil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55" y="4164543"/>
            <a:ext cx="339425" cy="339425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061704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3. Runtime enforcement</a:t>
            </a:r>
            <a:endParaRPr lang="en-US" sz="1800" dirty="0"/>
          </a:p>
        </p:txBody>
      </p:sp>
      <p:sp>
        <p:nvSpPr>
          <p:cNvPr id="48" name="Text 41"/>
          <p:cNvSpPr txBox="1"/>
          <p:nvPr/>
        </p:nvSpPr>
        <p:spPr>
          <a:xfrm>
            <a:off x="8394192" y="47091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 MCP call and every result is checked before the model sees it.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Security that helps the agent finish its job safely.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How it works: agents only ever talk to ScopeGuard</a:t>
            </a:r>
            <a:endParaRPr lang="en-US" sz="3400" dirty="0"/>
          </a:p>
        </p:txBody>
      </p:sp>
      <p:sp>
        <p:nvSpPr>
          <p:cNvPr id="3" name="user"/>
          <p:cNvSpPr/>
          <p:nvPr/>
        </p:nvSpPr>
        <p:spPr>
          <a:xfrm>
            <a:off x="548640" y="1874520"/>
            <a:ext cx="1508760" cy="19659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203911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5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2086" y="2129638"/>
            <a:ext cx="321869" cy="3218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1792" y="2606040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9718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dashboard · demo persona</a:t>
            </a:r>
            <a:endParaRPr lang="en-US" sz="1300" dirty="0"/>
          </a:p>
        </p:txBody>
      </p:sp>
      <p:sp>
        <p:nvSpPr>
          <p:cNvPr id="8" name="control plane"/>
          <p:cNvSpPr/>
          <p:nvPr/>
        </p:nvSpPr>
        <p:spPr>
          <a:xfrm>
            <a:off x="2423160" y="1874520"/>
            <a:ext cx="228600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14700" y="203911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5">
              <a:alpha val="18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10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226" y="2129638"/>
            <a:ext cx="321869" cy="3218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496312" y="260604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Control plane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51460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policy engine · AI planner · evaluator</a:t>
            </a:r>
            <a:endParaRPr lang="en-US" sz="1300" dirty="0"/>
          </a:p>
        </p:txBody>
      </p:sp>
      <p:sp>
        <p:nvSpPr>
          <p:cNvPr id="13" name="agent worker"/>
          <p:cNvSpPr/>
          <p:nvPr/>
        </p:nvSpPr>
        <p:spPr>
          <a:xfrm>
            <a:off x="5074920" y="1874520"/>
            <a:ext cx="1600200" cy="196596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623560" y="203911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15" name="Image 2" descr="net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086" y="2129638"/>
            <a:ext cx="321869" cy="32186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48072" y="2606040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Agent worker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9718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MCP client · no creds · one fixed URL</a:t>
            </a:r>
            <a:endParaRPr lang="en-US" sz="1300" dirty="0"/>
          </a:p>
        </p:txBody>
      </p:sp>
      <p:sp>
        <p:nvSpPr>
          <p:cNvPr id="18" name="gateway"/>
          <p:cNvSpPr/>
          <p:nvPr/>
        </p:nvSpPr>
        <p:spPr>
          <a:xfrm>
            <a:off x="7040880" y="1874520"/>
            <a:ext cx="214884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863840" y="203911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0" name="Image 3" descr="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4366" y="2129638"/>
            <a:ext cx="321869" cy="32186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14032" y="2606040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ScopeGuard gateway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132320" y="29718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MCP server · grant · policy · output filter</a:t>
            </a:r>
            <a:endParaRPr lang="en-US" sz="1300" dirty="0"/>
          </a:p>
        </p:txBody>
      </p:sp>
      <p:sp>
        <p:nvSpPr>
          <p:cNvPr id="23" name="analytics"/>
          <p:cNvSpPr/>
          <p:nvPr/>
        </p:nvSpPr>
        <p:spPr>
          <a:xfrm>
            <a:off x="9829800" y="1325880"/>
            <a:ext cx="1810512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0483596" y="149047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25" name="Image 4" descr="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4122" y="1580998"/>
            <a:ext cx="321869" cy="32186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902952" y="205740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Private Analytics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921240" y="242316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8" name="crm"/>
          <p:cNvSpPr/>
          <p:nvPr/>
        </p:nvSpPr>
        <p:spPr>
          <a:xfrm>
            <a:off x="9829800" y="2971800"/>
            <a:ext cx="1810512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10483596" y="313639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4">
              <a:alpha val="18000"/>
            </a:schemeClr>
          </a:solidFill>
          <a:ln w="12700">
            <a:solidFill>
              <a:schemeClr val="accent4">
                <a:alpha val="60000"/>
              </a:schemeClr>
            </a:solidFill>
            <a:prstDash val="solid"/>
          </a:ln>
        </p:spPr>
      </p:sp>
      <p:pic>
        <p:nvPicPr>
          <p:cNvPr id="30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4122" y="3226918"/>
            <a:ext cx="321869" cy="32186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02952" y="37033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Private CRM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9921240" y="406908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2075688" y="2852928"/>
            <a:ext cx="329184" cy="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4727448" y="2852928"/>
            <a:ext cx="329184" cy="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6693408" y="2852928"/>
            <a:ext cx="32918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 flipV="1">
            <a:off x="9208008" y="2468880"/>
            <a:ext cx="603504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7" name="Shape 29"/>
          <p:cNvSpPr/>
          <p:nvPr/>
        </p:nvSpPr>
        <p:spPr>
          <a:xfrm>
            <a:off x="9208008" y="3154680"/>
            <a:ext cx="603504" cy="4572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7040880" y="3977640"/>
            <a:ext cx="21488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040880" y="397764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ALLOW → aggregate only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7040880" y="4389120"/>
            <a:ext cx="21488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7040880" y="438912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DENY → no upstream call</a:t>
            </a:r>
            <a:endParaRPr lang="en-US" sz="1200" dirty="0"/>
          </a:p>
        </p:txBody>
      </p:sp>
      <p:sp>
        <p:nvSpPr>
          <p:cNvPr id="42" name="vault"/>
          <p:cNvSpPr/>
          <p:nvPr/>
        </p:nvSpPr>
        <p:spPr>
          <a:xfrm>
            <a:off x="9829800" y="4709160"/>
            <a:ext cx="1810512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966960" y="4873752"/>
            <a:ext cx="457200" cy="457200"/>
          </a:xfrm>
          <a:prstGeom prst="roundRect">
            <a:avLst>
              <a:gd name="adj" fmla="val 28000"/>
            </a:avLst>
          </a:prstGeom>
          <a:solidFill>
            <a:schemeClr val="accent3">
              <a:alpha val="18000"/>
            </a:schemeClr>
          </a:solidFill>
          <a:ln w="12700">
            <a:solidFill>
              <a:schemeClr val="accent3">
                <a:alpha val="60000"/>
              </a:schemeClr>
            </a:solidFill>
            <a:prstDash val="solid"/>
          </a:ln>
        </p:spPr>
      </p:sp>
      <p:pic>
        <p:nvPicPr>
          <p:cNvPr id="44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6" y="4956048"/>
            <a:ext cx="292608" cy="292608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0469880" y="4828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Backend-only credential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9966960" y="541324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used, never returned</a:t>
            </a:r>
            <a:endParaRPr lang="en-US" sz="1200" dirty="0"/>
          </a:p>
        </p:txBody>
      </p:sp>
      <p:sp>
        <p:nvSpPr>
          <p:cNvPr id="47" name="key to CRM"/>
          <p:cNvSpPr/>
          <p:nvPr/>
        </p:nvSpPr>
        <p:spPr>
          <a:xfrm flipV="1">
            <a:off x="10735056" y="4416552"/>
            <a:ext cx="0" cy="27432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8" name="model"/>
          <p:cNvSpPr/>
          <p:nvPr/>
        </p:nvSpPr>
        <p:spPr>
          <a:xfrm>
            <a:off x="2423160" y="4709160"/>
            <a:ext cx="42519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9" name="Shape 40"/>
          <p:cNvSpPr/>
          <p:nvPr/>
        </p:nvSpPr>
        <p:spPr>
          <a:xfrm>
            <a:off x="2606040" y="4919472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50" name="Image 7" descr="sparkl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96566" y="5009998"/>
            <a:ext cx="321869" cy="321869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3246120" y="4846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LLM sees only the sanitized result</a:t>
            </a:r>
            <a:endParaRPr lang="en-US" sz="1600" dirty="0"/>
          </a:p>
        </p:txBody>
      </p:sp>
      <p:sp>
        <p:nvSpPr>
          <p:cNvPr id="52" name="Text 42"/>
          <p:cNvSpPr txBox="1"/>
          <p:nvPr/>
        </p:nvSpPr>
        <p:spPr>
          <a:xfrm>
            <a:off x="3246120" y="52303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e.g. 4 aggregate rows, or {"connected": true}</a:t>
            </a:r>
            <a:endParaRPr lang="en-US" sz="1300" dirty="0"/>
          </a:p>
        </p:txBody>
      </p:sp>
      <p:sp>
        <p:nvSpPr>
          <p:cNvPr id="53" name="Shape 43"/>
          <p:cNvSpPr/>
          <p:nvPr/>
        </p:nvSpPr>
        <p:spPr>
          <a:xfrm>
            <a:off x="3566160" y="3858768"/>
            <a:ext cx="0" cy="8229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4" name="Text 4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Worker → gateway: MCP Streamable HTTP  ·  gateway → private servers: MCP stdio  ·  registered tools only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Three candidate plans, one safe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25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Plan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325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Tool call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2628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Data requested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13258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Rows (est.)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89720" y="132588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Personal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41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Decision</a:t>
            </a:r>
            <a:endParaRPr lang="en-US" sz="1400" dirty="0"/>
          </a:p>
        </p:txBody>
      </p:sp>
      <p:sp>
        <p:nvSpPr>
          <p:cNvPr id="9" name="plan A"/>
          <p:cNvSpPr/>
          <p:nvPr/>
        </p:nvSpPr>
        <p:spPr>
          <a:xfrm>
            <a:off x="548640" y="1737360"/>
            <a:ext cx="11091672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737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737360"/>
            <a:ext cx="3108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crm.get_customers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26280" y="2020824"/>
            <a:ext cx="766267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2020824"/>
            <a:ext cx="7662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47411" y="2020824"/>
            <a:ext cx="681228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47411" y="2020824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3503" y="2020824"/>
            <a:ext cx="1191463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3503" y="2020824"/>
            <a:ext cx="11914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personal_id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29830" y="2020824"/>
            <a:ext cx="681228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1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29830" y="2020824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spend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173736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5,000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1737360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10,000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168128" y="1883664"/>
            <a:ext cx="1353312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68128" y="1883664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DENY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076688" y="224942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not executed</a:t>
            </a:r>
            <a:endParaRPr lang="en-US" sz="1200" dirty="0"/>
          </a:p>
        </p:txBody>
      </p:sp>
      <p:sp>
        <p:nvSpPr>
          <p:cNvPr id="25" name="plan B"/>
          <p:cNvSpPr/>
          <p:nvPr/>
        </p:nvSpPr>
        <p:spPr>
          <a:xfrm>
            <a:off x="548640" y="2761488"/>
            <a:ext cx="11091672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761488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B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2761488"/>
            <a:ext cx="3108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analytics.get_transactions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26280" y="3044952"/>
            <a:ext cx="766267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044952"/>
            <a:ext cx="7662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47411" y="3044952"/>
            <a:ext cx="1276502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1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47411" y="3044952"/>
            <a:ext cx="127650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amount_cents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76148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5,000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2761488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10168128" y="2907792"/>
            <a:ext cx="1353312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168128" y="290779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MORE EXPOSURE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076688" y="32735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denied for this task</a:t>
            </a:r>
            <a:endParaRPr lang="en-US" sz="1200" dirty="0"/>
          </a:p>
        </p:txBody>
      </p:sp>
      <p:sp>
        <p:nvSpPr>
          <p:cNvPr id="37" name="plan C"/>
          <p:cNvSpPr/>
          <p:nvPr/>
        </p:nvSpPr>
        <p:spPr>
          <a:xfrm>
            <a:off x="548640" y="3785616"/>
            <a:ext cx="11091672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3785616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3785616"/>
            <a:ext cx="3108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analytics.get_sales_summary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4526280" y="4069080"/>
            <a:ext cx="766267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26280" y="4069080"/>
            <a:ext cx="7662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47411" y="4069080"/>
            <a:ext cx="1191463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347411" y="4069080"/>
            <a:ext cx="11914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value_cents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593738" y="4069080"/>
            <a:ext cx="936346" cy="329184"/>
          </a:xfrm>
          <a:prstGeom prst="roundRect">
            <a:avLst>
              <a:gd name="adj" fmla="val 50000"/>
            </a:avLst>
          </a:prstGeom>
          <a:solidFill>
            <a:schemeClr val="accent4">
              <a:alpha val="18000"/>
            </a:schemeClr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593738" y="4069080"/>
            <a:ext cx="93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tx_count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229600" y="378561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 agg.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9189720" y="3785616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10168128" y="3931920"/>
            <a:ext cx="1353312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168128" y="3931920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SELECTED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10076688" y="42976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executed</a:t>
            </a:r>
            <a:endParaRPr lang="en-US" sz="1200" dirty="0"/>
          </a:p>
        </p:txBody>
      </p:sp>
      <p:sp>
        <p:nvSpPr>
          <p:cNvPr id="51" name="estimate box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accent3">
              <a:alpha val="10000"/>
            </a:scheme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7240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Candidate request (A, B)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777240" y="5394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Estimated from the trusted registry. Rejected before execution, so no upstream call was made.</a:t>
            </a:r>
            <a:endParaRPr lang="en-US" sz="1500" dirty="0"/>
          </a:p>
        </p:txBody>
      </p:sp>
      <p:sp>
        <p:nvSpPr>
          <p:cNvPr id="54" name="measured box"/>
          <p:cNvSpPr/>
          <p:nvPr/>
        </p:nvSpPr>
        <p:spPr>
          <a:xfrm>
            <a:off x="6199632" y="48920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accent1">
              <a:alpha val="10000"/>
            </a:scheme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28232" y="50109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Executed response (C), measured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6428232" y="5394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4 aggregate rows · 356 bytes · 0 personal values · totals = independent SQL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Live demo: watch the scope shrink</a:t>
            </a:r>
            <a:endParaRPr lang="en-US" sz="3400" dirty="0"/>
          </a:p>
        </p:txBody>
      </p:sp>
      <p:sp>
        <p:nvSpPr>
          <p:cNvPr id="3" name="screenshot frame"/>
          <p:cNvSpPr/>
          <p:nvPr/>
        </p:nvSpPr>
        <p:spPr>
          <a:xfrm>
            <a:off x="548640" y="1325880"/>
            <a:ext cx="7406640" cy="4773168"/>
          </a:xfrm>
          <a:prstGeom prst="roundRect">
            <a:avLst>
              <a:gd name="adj" fmla="val 2299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ScopeGuard dashboard after the sales-by-region r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223760" cy="45148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51400" y="1997678"/>
            <a:ext cx="329184" cy="329184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51400" y="199767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73072" y="2584609"/>
            <a:ext cx="329184" cy="329184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73072" y="258460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896429" y="1997678"/>
            <a:ext cx="329184" cy="329184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6429" y="199767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11312" y="14173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11312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13990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Unsafe request blocked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1828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Broad CRM export (5,000 rows requested) denied and never executed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211312" y="2788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11312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27706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 alternative executes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823960" y="3200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Aggregate tool runs over real MCP; 4 aggregate rows returned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211312" y="4160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1131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414223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trace proves it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823960" y="45720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0 customer records and 0 personal values reached the model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211312" y="55321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Screenshot of the running app, live mode (gpt-4.1-mini). Offline deterministic mode runs the same enforcement.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answer was delivered. The extra data was not.</a:t>
            </a:r>
            <a:endParaRPr lang="en-US" sz="3400" dirty="0"/>
          </a:p>
        </p:txBody>
      </p:sp>
      <p:sp>
        <p:nvSpPr>
          <p:cNvPr id="3" name="chart card"/>
          <p:cNvSpPr/>
          <p:nvPr/>
        </p:nvSpPr>
        <p:spPr>
          <a:xfrm>
            <a:off x="548640" y="1325880"/>
            <a:ext cx="603504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graphicFrame>
        <p:nvGraphicFramePr>
          <p:cNvPr id="4" name="evidence chart" descr=""/>
          <p:cNvGraphicFramePr/>
          <p:nvPr/>
        </p:nvGraphicFramePr>
        <p:xfrm>
          <a:off x="731520" y="1463040"/>
          <a:ext cx="56692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 1"/>
          <p:cNvSpPr/>
          <p:nvPr/>
        </p:nvSpPr>
        <p:spPr>
          <a:xfrm>
            <a:off x="6812280" y="1325880"/>
            <a:ext cx="233172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463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148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aggregate rows delivered; totals match independent SQL</a:t>
            </a:r>
            <a:endParaRPr lang="en-US" sz="1300" dirty="0"/>
          </a:p>
        </p:txBody>
      </p:sp>
      <p:sp>
        <p:nvSpPr>
          <p:cNvPr id="8" name="stat 2"/>
          <p:cNvSpPr/>
          <p:nvPr/>
        </p:nvSpPr>
        <p:spPr>
          <a:xfrm>
            <a:off x="9281160" y="1325880"/>
            <a:ext cx="233172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463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Done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148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task completed with a verified MCP round-trip</a:t>
            </a:r>
            <a:endParaRPr lang="en-US" sz="1300" dirty="0"/>
          </a:p>
        </p:txBody>
      </p:sp>
      <p:sp>
        <p:nvSpPr>
          <p:cNvPr id="11" name="stat 3"/>
          <p:cNvSpPr/>
          <p:nvPr/>
        </p:nvSpPr>
        <p:spPr>
          <a:xfrm>
            <a:off x="6812280" y="3154680"/>
            <a:ext cx="233172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39776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canary hits in 7 model-bound payloads scanned</a:t>
            </a:r>
            <a:endParaRPr lang="en-US" sz="1300" dirty="0"/>
          </a:p>
        </p:txBody>
      </p:sp>
      <p:sp>
        <p:nvSpPr>
          <p:cNvPr id="14" name="stat 4"/>
          <p:cNvSpPr/>
          <p:nvPr/>
        </p:nvSpPr>
        <p:spPr>
          <a:xfrm>
            <a:off x="9281160" y="3154680"/>
            <a:ext cx="233172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6404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4/4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464040" y="39776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tampered agent calls denied; 0 prohibited upstream dispatches</a:t>
            </a:r>
            <a:endParaRPr lang="en-US" sz="1300" dirty="0"/>
          </a:p>
        </p:txBody>
      </p:sp>
      <p:sp>
        <p:nvSpPr>
          <p:cNvPr id="17" name="tests"/>
          <p:cNvSpPr/>
          <p:nvPr/>
        </p:nvSpPr>
        <p:spPr>
          <a:xfrm>
            <a:off x="6812280" y="4983480"/>
            <a:ext cx="480060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967728" y="5120640"/>
            <a:ext cx="502920" cy="502920"/>
          </a:xfrm>
          <a:prstGeom prst="roundRect">
            <a:avLst>
              <a:gd name="adj" fmla="val 25455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9" name="Image 0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254" y="5211166"/>
            <a:ext cx="321869" cy="32186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35240" y="498348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137/137 Python tests · 7/7 browser E2E passed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Measured in a synthetic, task-scoped local demo; not a universal safety guarantee.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749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Don't give agents more data. Give them a safer route.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Who it is for</a:t>
            </a:r>
            <a:endParaRPr lang="en-US" sz="2000" dirty="0"/>
          </a:p>
        </p:txBody>
      </p:sp>
      <p:sp>
        <p:nvSpPr>
          <p:cNvPr id="4" name="user 1"/>
          <p:cNvSpPr/>
          <p:nvPr/>
        </p:nvSpPr>
        <p:spPr>
          <a:xfrm>
            <a:off x="548640" y="96012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14300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271" y="1238463"/>
            <a:ext cx="339425" cy="3394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" y="1755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Enterprise AI builders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121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ship MCP agents without broad data grants</a:t>
            </a:r>
            <a:endParaRPr lang="en-US" sz="1300" dirty="0"/>
          </a:p>
        </p:txBody>
      </p:sp>
      <p:sp>
        <p:nvSpPr>
          <p:cNvPr id="9" name="user 2"/>
          <p:cNvSpPr/>
          <p:nvPr/>
        </p:nvSpPr>
        <p:spPr>
          <a:xfrm>
            <a:off x="3364992" y="96012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14300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mage 1" descr="ba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623" y="1238463"/>
            <a:ext cx="339425" cy="3394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66160" y="1755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Banks and fintech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2121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keep secrets and PII out of model context</a:t>
            </a:r>
            <a:endParaRPr lang="en-US" sz="1300" dirty="0"/>
          </a:p>
        </p:txBody>
      </p:sp>
      <p:sp>
        <p:nvSpPr>
          <p:cNvPr id="14" name="user 3"/>
          <p:cNvSpPr/>
          <p:nvPr/>
        </p:nvSpPr>
        <p:spPr>
          <a:xfrm>
            <a:off x="6181344" y="96012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82512" y="114300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6" name="Image 2" descr="head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975" y="1238463"/>
            <a:ext cx="339425" cy="3394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82512" y="1755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Customer support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82512" y="2121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one field, one customer, approved once</a:t>
            </a:r>
            <a:endParaRPr lang="en-US" sz="1300" dirty="0"/>
          </a:p>
        </p:txBody>
      </p:sp>
      <p:sp>
        <p:nvSpPr>
          <p:cNvPr id="19" name="user 4"/>
          <p:cNvSpPr/>
          <p:nvPr/>
        </p:nvSpPr>
        <p:spPr>
          <a:xfrm>
            <a:off x="8997696" y="96012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98864" y="1143000"/>
            <a:ext cx="530352" cy="530352"/>
          </a:xfrm>
          <a:prstGeom prst="roundRect">
            <a:avLst>
              <a:gd name="adj" fmla="val 24138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21" name="Image 3" descr="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327" y="1238463"/>
            <a:ext cx="339425" cy="3394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98864" y="1755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Analytics teams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98864" y="2121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aggregate answers, not raw exports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Roadmap (not built yet)</a:t>
            </a:r>
            <a:endParaRPr lang="en-US" sz="2000" dirty="0"/>
          </a:p>
        </p:txBody>
      </p:sp>
      <p:sp>
        <p:nvSpPr>
          <p:cNvPr id="25" name="roadmap 1"/>
          <p:cNvSpPr/>
          <p:nvPr/>
        </p:nvSpPr>
        <p:spPr>
          <a:xfrm>
            <a:off x="548640" y="3474720"/>
            <a:ext cx="2514600" cy="777240"/>
          </a:xfrm>
          <a:prstGeom prst="roundRect">
            <a:avLst>
              <a:gd name="adj" fmla="val 14118"/>
            </a:avLst>
          </a:prstGeom>
          <a:solidFill>
            <a:schemeClr val="accent5">
              <a:alpha val="12000"/>
            </a:schemeClr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More MCP connectors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3090672" y="3858768"/>
            <a:ext cx="24688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8" name="roadmap 2"/>
          <p:cNvSpPr/>
          <p:nvPr/>
        </p:nvSpPr>
        <p:spPr>
          <a:xfrm>
            <a:off x="3364992" y="3474720"/>
            <a:ext cx="2514600" cy="777240"/>
          </a:xfrm>
          <a:prstGeom prst="roundRect">
            <a:avLst>
              <a:gd name="adj" fmla="val 14118"/>
            </a:avLst>
          </a:prstGeom>
          <a:solidFill>
            <a:schemeClr val="accent5">
              <a:alpha val="12000"/>
            </a:schemeClr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502152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Verified approvals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907024" y="3858768"/>
            <a:ext cx="24688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1" name="roadmap 3"/>
          <p:cNvSpPr/>
          <p:nvPr/>
        </p:nvSpPr>
        <p:spPr>
          <a:xfrm>
            <a:off x="6181344" y="3474720"/>
            <a:ext cx="2514600" cy="777240"/>
          </a:xfrm>
          <a:prstGeom prst="roundRect">
            <a:avLst>
              <a:gd name="adj" fmla="val 14118"/>
            </a:avLst>
          </a:prstGeom>
          <a:solidFill>
            <a:schemeClr val="accent5">
              <a:alpha val="12000"/>
            </a:schemeClr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318504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Production identity (OIDC/SSO)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8723376" y="3858768"/>
            <a:ext cx="246888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34" name="roadmap 4"/>
          <p:cNvSpPr/>
          <p:nvPr/>
        </p:nvSpPr>
        <p:spPr>
          <a:xfrm>
            <a:off x="8997696" y="3474720"/>
            <a:ext cx="2514600" cy="777240"/>
          </a:xfrm>
          <a:prstGeom prst="roundRect">
            <a:avLst>
              <a:gd name="adj" fmla="val 14118"/>
            </a:avLst>
          </a:prstGeom>
          <a:solidFill>
            <a:schemeClr val="accent5">
              <a:alpha val="12000"/>
            </a:schemeClr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134856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Policy as code</a:t>
            </a:r>
            <a:endParaRPr lang="en-US" sz="1600" dirty="0"/>
          </a:p>
        </p:txBody>
      </p:sp>
      <p:sp>
        <p:nvSpPr>
          <p:cNvPr id="36" name="links"/>
          <p:cNvSpPr txBox="1"/>
          <p:nvPr/>
        </p:nvSpPr>
        <p:spPr>
          <a:xfrm>
            <a:off x="548640" y="449884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Website  </a:t>
            </a:r>
            <a:pPr indent="0" marL="0">
              <a:buNone/>
            </a:pPr>
            <a:r>
              <a:rPr lang="en-US" sz="1800" u="sng" dirty="0">
                <a:solidFill>
                  <a:schemeClr val="accent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scopeguard-ai-shield.lovable.app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     Code  </a:t>
            </a:r>
            <a:pPr indent="0" marL="0">
              <a:buNone/>
            </a:pPr>
            <a:r>
              <a:rPr lang="en-US" sz="18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github.com/Ani-Bliadze/scopeguard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9C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opeGuard Night">
  <a:themeElements>
    <a:clrScheme name="ScopeGuard Night">
      <a:dk1>
        <a:srgbClr val="0B1220"/>
      </a:dk1>
      <a:lt1>
        <a:srgbClr val="F2F6FC"/>
      </a:lt1>
      <a:dk2>
        <a:srgbClr val="142033"/>
      </a:dk2>
      <a:lt2>
        <a:srgbClr val="9AA9C2"/>
      </a:lt2>
      <a:accent1>
        <a:srgbClr val="2DD4BF"/>
      </a:accent1>
      <a:accent2>
        <a:srgbClr val="FB7185"/>
      </a:accent2>
      <a:accent3>
        <a:srgbClr val="FBBF24"/>
      </a:accent3>
      <a:accent4>
        <a:srgbClr val="7DD3FC"/>
      </a:accent4>
      <a:accent5>
        <a:srgbClr val="C4B5FD"/>
      </a:accent5>
      <a:accent6>
        <a:srgbClr val="34D399"/>
      </a:accent6>
      <a:hlink>
        <a:srgbClr val="7DD3FC"/>
      </a:hlink>
      <a:folHlink>
        <a:srgbClr val="C4B5FD"/>
      </a:folHlink>
    </a:clrScheme>
    <a:fontScheme name="ScopeGuard N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ScopeGuard pitch</dc:title>
  <dc:subject>Privacy-aware data firewall for MCP-powered AI agents</dc:subject>
  <dc:creator>ScopeGuard hackathon team</dc:creator>
  <cp:lastModifiedBy>ScopeGuard hackathon team</cp:lastModifiedBy>
  <cp:revision>1</cp:revision>
  <dcterms:created xsi:type="dcterms:W3CDTF">2026-10-17T16:19:02Z</dcterms:created>
  <dcterms:modified xsi:type="dcterms:W3CDTF">2026-10-17T16:19:02Z</dcterms:modified>
</cp:coreProperties>
</file>