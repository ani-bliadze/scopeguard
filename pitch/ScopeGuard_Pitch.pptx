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fe9c9326-4621-a85a-7fd8-6f507b953578}">
          <p14:sldIdLst>
            <p14:sldId id="256"/>
          </p14:sldIdLst>
        </p14:section>
        <p14:section name="Problem and solution" id="{7894511e-a026-e83d-9824-e4e1df353ddd}">
          <p14:sldIdLst>
            <p14:sldId id="257"/>
            <p14:sldId id="258"/>
            <p14:sldId id="259"/>
          </p14:sldIdLst>
        </p14:section>
        <p14:section name="Proof" id="{ab0570ba-1881-71ad-6754-d234dd83c088}">
          <p14:sldIdLst>
            <p14:sldId id="260"/>
            <p14:sldId id="261"/>
            <p14:sldId id="262"/>
          </p14:sldIdLst>
        </p14:section>
        <p14:section name="Close" id="{0cf1b12a-394e-adf7-79cd-9ec93381daf2}">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9AA9C2"/>
                </a:solidFill>
                <a:latin typeface="+mn-lt"/>
              </a:defRPr>
            </a:pPr>
            <a:r>
              <a:rPr sz="1400" b="0" i="0" u="none" strike="noStrike">
                <a:solidFill>
                  <a:srgbClr val="9AA9C2"/>
                </a:solidFill>
                <a:latin typeface="+mn-lt"/>
              </a:rPr>
              <a:t>Sales-by-region task</a:t>
            </a:r>
          </a:p>
        </c:rich>
      </c:tx>
      <c:layout/>
      <c:overlay val="0"/>
    </c:title>
    <c:autoTitleDeleted val="0"/>
    <c:plotArea>
      <c:layout/>
      <c:barChart>
        <c:barDir val="bar"/>
        <c:grouping val="clustered"/>
        <c:varyColors val="0"/>
        <c:ser>
          <c:idx val="0"/>
          <c:order val="0"/>
          <c:tx>
            <c:strRef>
              <c:f>Sheet1!$B$1</c:f>
              <c:strCache>
                <c:ptCount val="1"/>
                <c:pt idx="0">
                  <c:v>Requested by rejected plan (estimate)</c:v>
                </c:pt>
              </c:strCache>
            </c:strRef>
          </c:tx>
          <c:spPr>
            <a:solidFill>
              <a:srgbClr val="FB7185"/>
            </a:solidFill>
            <a:effectLst/>
          </c:spPr>
          <c:invertIfNegative val="0"/>
          <c:dLbls>
            <c:numFmt formatCode="[&gt;=1000]#\,##0;0" sourceLinked="0"/>
            <c:txPr>
              <a:bodyPr/>
              <a:lstStyle/>
              <a:p>
                <a:pPr>
                  <a:defRPr b="1" i="0" strike="noStrike" sz="1600" u="none">
                    <a:solidFill>
                      <a:srgbClr val="F2F6FC"/>
                    </a:solidFill>
                    <a:latin typeface="+mn-lt"/>
                  </a:defRPr>
                </a:pPr>
              </a:p>
            </c:txPr>
            <c:showLegendKey val="0"/>
            <c:showVal val="1"/>
            <c:showCatName val="0"/>
            <c:showSerName val="0"/>
            <c:showPercent val="0"/>
            <c:showBubbleSize val="0"/>
            <c:showLeaderLines val="0"/>
          </c:dLbls>
          <c:cat>
            <c:multiLvlStrRef>
              <c:f>Sheet1!$A$2:$A$3</c:f>
              <c:multiLvlStrCache>
                <c:ptCount val="2"/>
                <c:lvl>
                  <c:pt idx="0">
                    <c:v>Customer records</c:v>
                  </c:pt>
                  <c:pt idx="1">
                    <c:v>Personal values</c:v>
                  </c:pt>
                </c:lvl>
              </c:multiLvlStrCache>
            </c:multiLvlStrRef>
          </c:cat>
          <c:val>
            <c:numRef>
              <c:f>Sheet1!$B$2:$B$3</c:f>
              <c:numCache>
                <c:formatCode>General</c:formatCode>
                <c:ptCount val="2"/>
                <c:pt idx="0">
                  <c:v>5000</c:v>
                </c:pt>
                <c:pt idx="1">
                  <c:v>10000</c:v>
                </c:pt>
              </c:numCache>
            </c:numRef>
          </c:val>
        </c:ser>
        <c:ser>
          <c:idx val="1"/>
          <c:order val="1"/>
          <c:tx>
            <c:strRef>
              <c:f>Sheet1!$C$1</c:f>
              <c:strCache>
                <c:ptCount val="1"/>
                <c:pt idx="0">
                  <c:v>Delivered to the model (measured)</c:v>
                </c:pt>
              </c:strCache>
            </c:strRef>
          </c:tx>
          <c:spPr>
            <a:solidFill>
              <a:srgbClr val="2DD4BF"/>
            </a:solidFill>
            <a:effectLst/>
          </c:spPr>
          <c:invertIfNegative val="0"/>
          <c:dLbls>
            <c:numFmt formatCode="[&gt;=1000]#\,##0;0" sourceLinked="0"/>
            <c:txPr>
              <a:bodyPr/>
              <a:lstStyle/>
              <a:p>
                <a:pPr>
                  <a:defRPr b="1" i="0" strike="noStrike" sz="1600" u="none">
                    <a:solidFill>
                      <a:srgbClr val="F2F6FC"/>
                    </a:solidFill>
                    <a:latin typeface="+mn-lt"/>
                  </a:defRPr>
                </a:pPr>
              </a:p>
            </c:txPr>
            <c:showLegendKey val="0"/>
            <c:showVal val="1"/>
            <c:showCatName val="0"/>
            <c:showSerName val="0"/>
            <c:showPercent val="0"/>
            <c:showBubbleSize val="0"/>
            <c:showLeaderLines val="0"/>
          </c:dLbls>
          <c:cat>
            <c:multiLvlStrRef>
              <c:f>Sheet1!$A$2:$A$3</c:f>
              <c:multiLvlStrCache>
                <c:ptCount val="2"/>
                <c:lvl>
                  <c:pt idx="0">
                    <c:v>Customer records</c:v>
                  </c:pt>
                  <c:pt idx="1">
                    <c:v>Personal values</c:v>
                  </c:pt>
                </c:lvl>
              </c:multiLvlStrCache>
            </c:multiLvlStrRef>
          </c:cat>
          <c:val>
            <c:numRef>
              <c:f>Sheet1!$C$2:$C$3</c:f>
              <c:numCache>
                <c:formatCode>General</c:formatCode>
                <c:ptCount val="2"/>
                <c:pt idx="0">
                  <c:v>0</c:v>
                </c:pt>
                <c:pt idx="1">
                  <c:v>0</c:v>
                </c:pt>
              </c:numCache>
            </c:numRef>
          </c:val>
        </c:ser>
        <c:dLbls>
          <c:numFmt formatCode="[&gt;=1000]#\,##0;0" sourceLinked="0"/>
          <c:txPr>
            <a:bodyPr/>
            <a:lstStyle/>
            <a:p>
              <a:pPr>
                <a:defRPr b="1" i="0" strike="noStrike" sz="1600" u="none">
                  <a:solidFill>
                    <a:srgbClr val="F2F6F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F2F6FC"/>
                </a:solidFill>
                <a:latin typeface="+mn-lt"/>
              </a:defRPr>
            </a:pPr>
            <a:endParaRPr lang="en-US"/>
          </a:p>
        </c:txPr>
        <c:crossAx val="2094734552"/>
        <c:crosses val="autoZero"/>
        <c:auto val="1"/>
        <c:lblAlgn val="ctr"/>
        <c:noMultiLvlLbl val="1"/>
      </c:catAx>
      <c:valAx>
        <c:axId val="2094734552"/>
        <c:scaling>
          <c:orientation val="minMax"/>
          <c:max val="12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42033"/>
        </a:solidFill>
        <a:ln>
          <a:noFill/>
        </a:ln>
        <a:effectLst/>
      </c:spPr>
    </c:plotArea>
    <c:legend>
      <c:legendPos val="b"/>
      <c:overlay val="0"/>
      <c:txPr>
        <a:bodyPr/>
        <a:lstStyle/>
        <a:p>
          <a:pPr>
            <a:defRPr sz="1400">
              <a:solidFill>
                <a:srgbClr val="F2F6FC"/>
              </a:solidFill>
              <a:latin typeface="+mn-lt"/>
              <a:cs typeface="+mn-lt"/>
            </a:defRPr>
          </a:pPr>
          <a:endParaRPr lang="en-US"/>
        </a:p>
      </c:txPr>
    </c:legend>
    <c:plotVisOnly val="1"/>
    <c:dispBlanksAs val="span"/>
  </c:chart>
  <c:spPr>
    <a:solidFill>
      <a:srgbClr val="14203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One sentence: ScopeGuard lets AI agents finish the job without reading data they don't need.
On screen: the broad plan asked for 5,000 customer records and was blocked before it ran; the model received 4 regional totals and 0 personal values.
Evidence: docs/demo_results.json (Deterministic demo mode (offline), generated 2026-10-17T13:36:40+00:00). The 5,000 is a registry estimate for an unexecuted plan, not a leak that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A normal request, an abnormal amount of data. Chips are colored by the trusted registry classification: rose = PERSONAL, amber = CONFIDENTIAL, blue = INTERNAL.
5,000 synthetic customers is the demo fixture size, not a market statistic. 5,000 rows / 10,000 personal values are ESTIMATES the evaluator computes from the registry for this candidate; it was never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Simplified design contrast, not a benchmark of any specific product. Many gateways stop at a deny. ScopeGuard denies the broad plan, then completes the task on an authorized lower-exposure route.
Three independent layers: (1) deterministic policy and a trusted registry; (2) an LLM that only proposes candidate plans (its self-reported risk is ignored); (3) the gateway re-checks every MCP tools/call and inspects both result channels before anything reaches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[1:05–1:35] The agent worker is a separate process with one fixed destination: the ScopeGuard MCP endpoint (Streamable HTTP). It has no database path, no backend credential and no LLM key. The gateway re-checks every call against server-owned grant state, then calls private CRM/Analytics MCP servers over stdio (no sockets). The CRM holds a synthetic canary credential and uses it to verify its connection; the model gets only connected: true. Using a secret is not the same as exposing it.
Honest scope: application boundary, not an OS sandbox; demo personas are not production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[1:35–2:00] Ranking is deterministic and lexicographic: authorized and task-sufficient first, then lowest max classification, fewest personal values, fewest rows, fewest bytes. LLM self-reported risk is displayed but ignored.
Rows column for A/B = estimates; for C = measured aggregate rows. Evidence: Deterministic demo mode (offline). In the live run, gpt-4.1-mini proposed 3 candidates covering the same three strategies, and the same aggregate plan was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[2:00–2:55] LIVE DEMO (about 55 s). Before the talk: run_local --mode live (or deterministic), open http://127.0.0.1:8000.
1) Click 'A · Safe replan'. Point at the candidate cards: the broad CRM export is DENIED · NOT EXECUTED; aggregate is SELECTED.
2) Point at the tiles: 5,000 requested (estimate, never executed) → 0 customer records → 0 personal values → Answered.
3) Click 'B1 · Secret request': hard deny before any planner or model call. Click 'B2': connected: true only.
4) Optional: click 'Broad CRM export' under probes: denied at the gateway, 0 prohibited upstream dispatches.
FALLBACK: if the network or LLM fails, the UI labels the deterministic fallback; if the laptop fails, show docs/screenshots/*.png and say they are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[2:55–3:20] Rose = what the rejected plan REQUESTED (registry estimate, never executed). Teal = what was DELIVERED to the model (measured at the model boundary). Both teal values are 0, so their bars have zero length.
Source: docs/demo_results.json, Deterministic demo mode (offline), generated 2026-10-17T13:36:40+00:00; fixture sha256 7136fe0a45f6…, config digest 69c06d317e3edad4. Normal run: candidates rejected = 2, gateway calls denied = 0 (rejections happen before execution). The 4/4 denials come from separate scripted compromised-agent probes.
Tests referenced in the evidence file: 137/137 Python tests · 7/7 browser E2E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[3:20–3:40] Intended users, not customers: we claim no users, savings or partners. Roadmap items are not implemented.
Close with the line on the slide, then invite questions. No public repository URL is shown because none is published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G_CONTENT">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bg2"/>
                </a:solidFill>
              </a:rPr>
              <a:t>ScopeGuard · synthetic, task-scoped local demo</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G_HERO">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035040" cy="2377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bg2"/>
                </a:solidFill>
              </a:rPr>
              <a:t>ScopeGuard · synthetic, task-scoped local demo</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G_CLOSE">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74920"/>
            <a:ext cx="11091672" cy="868680"/>
          </a:xfrm>
          <a:prstGeom prst="rect">
            <a:avLst/>
          </a:prstGeom>
          <a:noFill/>
          <a:ln/>
        </p:spPr>
        <p:txBody>
          <a:bodyPr wrap="square" rtlCol="0"/>
          <a:lstStyle>
            <a:lvl1pPr algn="l" indent="0" marL="0">
              <a:buNone/>
              <a:defRPr lang="en-US" sz="3600" b="1" dirty="0">
                <a:solidFill>
                  <a:schemeClr val="accent1"/>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bg2"/>
                </a:solidFill>
              </a:rPr>
              <a:t>ScopeGuard · synthetic, task-scoped local demo</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035040" cy="2377440"/>
          </a:xfrm>
          <a:prstGeom prst="rect">
            <a:avLst/>
          </a:prstGeom>
          <a:noFill/>
          <a:ln/>
        </p:spPr>
        <p:txBody>
          <a:bodyPr wrap="square" lIns="0" tIns="0" rIns="0" bIns="0" rtlCol="0" anchor="t"/>
          <a:lstStyle/>
          <a:p>
            <a:pPr algn="l" indent="0" marL="0">
              <a:buNone/>
            </a:pPr>
            <a:r>
              <a:rPr lang="en-US" sz="4000" b="1" dirty="0">
                <a:solidFill>
                  <a:schemeClr val="bg1"/>
                </a:solidFill>
              </a:rPr>
              <a:t>Your AI agent needs an answer. Not your entire database.</a:t>
            </a:r>
            <a:endParaRPr lang="en-US" sz="4000" dirty="0"/>
          </a:p>
        </p:txBody>
      </p:sp>
      <p:sp>
        <p:nvSpPr>
          <p:cNvPr id="3" name="Text 1"/>
          <p:cNvSpPr txBox="1"/>
          <p:nvPr/>
        </p:nvSpPr>
        <p:spPr>
          <a:xfrm>
            <a:off x="548640" y="3657600"/>
            <a:ext cx="6400800" cy="777240"/>
          </a:xfrm>
          <a:prstGeom prst="rect">
            <a:avLst/>
          </a:prstGeom>
          <a:noFill/>
          <a:ln/>
        </p:spPr>
        <p:txBody>
          <a:bodyPr wrap="square" lIns="0" tIns="0" rIns="0" bIns="0" rtlCol="0" anchor="t"/>
          <a:lstStyle/>
          <a:p>
            <a:pPr indent="0" marL="0">
              <a:buNone/>
            </a:pPr>
            <a:r>
              <a:rPr lang="en-US" sz="2000" b="1" dirty="0">
                <a:solidFill>
                  <a:schemeClr val="accent1"/>
                </a:solidFill>
              </a:rPr>
              <a:t>ScopeGuard</a:t>
            </a:r>
            <a:endParaRPr lang="en-US" sz="2000" dirty="0"/>
          </a:p>
          <a:p>
            <a:pPr indent="0" marL="0">
              <a:buNone/>
            </a:pPr>
            <a:r>
              <a:rPr lang="en-US" sz="2000" dirty="0">
                <a:solidFill>
                  <a:schemeClr val="bg1"/>
                </a:solidFill>
              </a:rPr>
              <a:t>The intelligent data firewall for MCP-powered agents</a:t>
            </a:r>
            <a:endParaRPr lang="en-US" sz="2000" dirty="0"/>
          </a:p>
        </p:txBody>
      </p:sp>
      <p:sp>
        <p:nvSpPr>
          <p:cNvPr id="4" name="Text 2"/>
          <p:cNvSpPr txBox="1"/>
          <p:nvPr/>
        </p:nvSpPr>
        <p:spPr>
          <a:xfrm>
            <a:off x="548640" y="4572000"/>
            <a:ext cx="5852160" cy="365760"/>
          </a:xfrm>
          <a:prstGeom prst="rect">
            <a:avLst/>
          </a:prstGeom>
          <a:noFill/>
          <a:ln/>
        </p:spPr>
        <p:txBody>
          <a:bodyPr wrap="square" lIns="0" tIns="0" rIns="0" bIns="0" rtlCol="0" anchor="t"/>
          <a:lstStyle/>
          <a:p>
            <a:pPr indent="0" marL="0">
              <a:buNone/>
            </a:pPr>
            <a:r>
              <a:rPr lang="en-US" sz="1400" dirty="0">
                <a:solidFill>
                  <a:schemeClr val="bg2"/>
                </a:solidFill>
              </a:rPr>
              <a:t>Measured on a synthetic 5,000-customer CRM with real MCP tool calls.</a:t>
            </a:r>
            <a:endParaRPr lang="en-US" sz="1400" dirty="0"/>
          </a:p>
        </p:txBody>
      </p:sp>
      <p:sp>
        <p:nvSpPr>
          <p:cNvPr id="5" name="Shape 3"/>
          <p:cNvSpPr/>
          <p:nvPr/>
        </p:nvSpPr>
        <p:spPr>
          <a:xfrm>
            <a:off x="7269480" y="2907792"/>
            <a:ext cx="1005840" cy="1005840"/>
          </a:xfrm>
          <a:prstGeom prst="roundRect">
            <a:avLst>
              <a:gd name="adj" fmla="val 12727"/>
            </a:avLst>
          </a:prstGeom>
          <a:solidFill>
            <a:schemeClr val="accent4">
              <a:alpha val="18000"/>
            </a:schemeClr>
          </a:solidFill>
          <a:ln w="12700">
            <a:solidFill>
              <a:schemeClr val="accent4">
                <a:alpha val="60000"/>
              </a:schemeClr>
            </a:solidFill>
            <a:prstDash val="solid"/>
          </a:ln>
        </p:spPr>
      </p:sp>
      <p:pic>
        <p:nvPicPr>
          <p:cNvPr id="6" name="Image 0" descr="bot">    </p:cNvPr>
          <p:cNvPicPr>
            <a:picLocks noChangeAspect="1"/>
          </p:cNvPicPr>
          <p:nvPr/>
        </p:nvPicPr>
        <p:blipFill>
          <a:blip r:embed="rId1"/>
          <a:stretch>
            <a:fillRect/>
          </a:stretch>
        </p:blipFill>
        <p:spPr>
          <a:xfrm>
            <a:off x="7450531" y="3088843"/>
            <a:ext cx="643738" cy="643738"/>
          </a:xfrm>
          <a:prstGeom prst="rect">
            <a:avLst/>
          </a:prstGeom>
        </p:spPr>
      </p:pic>
      <p:sp>
        <p:nvSpPr>
          <p:cNvPr id="7" name="Text 4"/>
          <p:cNvSpPr txBox="1"/>
          <p:nvPr/>
        </p:nvSpPr>
        <p:spPr>
          <a:xfrm>
            <a:off x="7086600" y="3986784"/>
            <a:ext cx="1371600" cy="320040"/>
          </a:xfrm>
          <a:prstGeom prst="rect">
            <a:avLst/>
          </a:prstGeom>
          <a:noFill/>
          <a:ln/>
        </p:spPr>
        <p:txBody>
          <a:bodyPr wrap="square" lIns="0" tIns="0" rIns="0" bIns="0" rtlCol="0" anchor="t"/>
          <a:lstStyle/>
          <a:p>
            <a:pPr algn="ctr" indent="0" marL="0">
              <a:buNone/>
            </a:pPr>
            <a:r>
              <a:rPr lang="en-US" sz="1400" dirty="0">
                <a:solidFill>
                  <a:schemeClr val="bg2"/>
                </a:solidFill>
              </a:rPr>
              <a:t>AI agent</a:t>
            </a:r>
            <a:endParaRPr lang="en-US" sz="1400" dirty="0"/>
          </a:p>
        </p:txBody>
      </p:sp>
      <p:sp>
        <p:nvSpPr>
          <p:cNvPr id="8" name="risky path"/>
          <p:cNvSpPr/>
          <p:nvPr/>
        </p:nvSpPr>
        <p:spPr>
          <a:xfrm flipV="1">
            <a:off x="8366760" y="2103120"/>
            <a:ext cx="868680" cy="960120"/>
          </a:xfrm>
          <a:prstGeom prst="line">
            <a:avLst/>
          </a:prstGeom>
          <a:noFill/>
          <a:ln w="25400">
            <a:solidFill>
              <a:schemeClr val="accent2"/>
            </a:solidFill>
            <a:prstDash val="dash"/>
            <a:tailEnd type="triangle"/>
          </a:ln>
        </p:spPr>
      </p:sp>
      <p:sp>
        <p:nvSpPr>
          <p:cNvPr id="9" name="safe path"/>
          <p:cNvSpPr/>
          <p:nvPr/>
        </p:nvSpPr>
        <p:spPr>
          <a:xfrm>
            <a:off x="8366760" y="3657600"/>
            <a:ext cx="868680" cy="960120"/>
          </a:xfrm>
          <a:prstGeom prst="line">
            <a:avLst/>
          </a:prstGeom>
          <a:noFill/>
          <a:ln w="25400">
            <a:solidFill>
              <a:schemeClr val="accent1"/>
            </a:solidFill>
            <a:prstDash val="solid"/>
            <a:tailEnd type="triangle"/>
          </a:ln>
        </p:spPr>
      </p:sp>
      <p:sp>
        <p:nvSpPr>
          <p:cNvPr id="10" name="blocked card"/>
          <p:cNvSpPr/>
          <p:nvPr/>
        </p:nvSpPr>
        <p:spPr>
          <a:xfrm>
            <a:off x="9281160" y="1188720"/>
            <a:ext cx="2377440" cy="1691640"/>
          </a:xfrm>
          <a:prstGeom prst="roundRect">
            <a:avLst>
              <a:gd name="adj" fmla="val 6486"/>
            </a:avLst>
          </a:prstGeom>
          <a:solidFill>
            <a:schemeClr val="tx2"/>
          </a:solidFill>
          <a:ln w="12700">
            <a:solidFill>
              <a:srgbClr val="FB7185"/>
            </a:solidFill>
            <a:prstDash val="solid"/>
          </a:ln>
          <a:effectLst>
            <a:outerShdw sx="100000" sy="100000" kx="0" ky="0" algn="bl" rotWithShape="0" blurRad="101600" dist="38100" dir="5400000">
              <a:srgbClr val="000000">
                <a:alpha val="35000"/>
              </a:srgbClr>
            </a:outerShdw>
          </a:effectLst>
        </p:spPr>
      </p:sp>
      <p:sp>
        <p:nvSpPr>
          <p:cNvPr id="11" name="Shape 8"/>
          <p:cNvSpPr/>
          <p:nvPr/>
        </p:nvSpPr>
        <p:spPr>
          <a:xfrm>
            <a:off x="9464040" y="1353312"/>
            <a:ext cx="548640" cy="548640"/>
          </a:xfrm>
          <a:prstGeom prst="roundRect">
            <a:avLst>
              <a:gd name="adj" fmla="val 23333"/>
            </a:avLst>
          </a:prstGeom>
          <a:solidFill>
            <a:schemeClr val="accent2">
              <a:alpha val="18000"/>
            </a:schemeClr>
          </a:solidFill>
          <a:ln w="12700">
            <a:solidFill>
              <a:schemeClr val="accent2">
                <a:alpha val="60000"/>
              </a:schemeClr>
            </a:solidFill>
            <a:prstDash val="solid"/>
          </a:ln>
        </p:spPr>
      </p:sp>
      <p:pic>
        <p:nvPicPr>
          <p:cNvPr id="12" name="Image 1" descr="ban">    </p:cNvPr>
          <p:cNvPicPr>
            <a:picLocks noChangeAspect="1"/>
          </p:cNvPicPr>
          <p:nvPr/>
        </p:nvPicPr>
        <p:blipFill>
          <a:blip r:embed="rId2"/>
          <a:stretch>
            <a:fillRect/>
          </a:stretch>
        </p:blipFill>
        <p:spPr>
          <a:xfrm>
            <a:off x="9562795" y="1452067"/>
            <a:ext cx="351130" cy="351130"/>
          </a:xfrm>
          <a:prstGeom prst="rect">
            <a:avLst/>
          </a:prstGeom>
        </p:spPr>
      </p:pic>
      <p:sp>
        <p:nvSpPr>
          <p:cNvPr id="13" name="Text 9"/>
          <p:cNvSpPr txBox="1"/>
          <p:nvPr/>
        </p:nvSpPr>
        <p:spPr>
          <a:xfrm>
            <a:off x="10104120" y="1325880"/>
            <a:ext cx="1463040" cy="594360"/>
          </a:xfrm>
          <a:prstGeom prst="rect">
            <a:avLst/>
          </a:prstGeom>
          <a:noFill/>
          <a:ln/>
        </p:spPr>
        <p:txBody>
          <a:bodyPr wrap="square" lIns="0" tIns="0" rIns="0" bIns="0" rtlCol="0" anchor="t"/>
          <a:lstStyle/>
          <a:p>
            <a:pPr indent="0" marL="0">
              <a:buNone/>
            </a:pPr>
            <a:r>
              <a:rPr lang="en-US" sz="3200" b="1" dirty="0">
                <a:solidFill>
                  <a:schemeClr val="accent2"/>
                </a:solidFill>
              </a:rPr>
              <a:t>5,000</a:t>
            </a:r>
            <a:endParaRPr lang="en-US" sz="3200" dirty="0"/>
          </a:p>
        </p:txBody>
      </p:sp>
      <p:sp>
        <p:nvSpPr>
          <p:cNvPr id="14" name="Text 10"/>
          <p:cNvSpPr txBox="1"/>
          <p:nvPr/>
        </p:nvSpPr>
        <p:spPr>
          <a:xfrm>
            <a:off x="9464040" y="2011680"/>
            <a:ext cx="2103120" cy="502920"/>
          </a:xfrm>
          <a:prstGeom prst="rect">
            <a:avLst/>
          </a:prstGeom>
          <a:noFill/>
          <a:ln/>
        </p:spPr>
        <p:txBody>
          <a:bodyPr wrap="square" lIns="0" tIns="0" rIns="0" bIns="0" rtlCol="0" anchor="t"/>
          <a:lstStyle/>
          <a:p>
            <a:pPr indent="0" marL="0">
              <a:buNone/>
            </a:pPr>
            <a:r>
              <a:rPr lang="en-US" sz="1300" dirty="0">
                <a:solidFill>
                  <a:schemeClr val="bg1"/>
                </a:solidFill>
              </a:rPr>
              <a:t>customer records requested by a broad plan</a:t>
            </a:r>
            <a:endParaRPr lang="en-US" sz="1300" dirty="0"/>
          </a:p>
        </p:txBody>
      </p:sp>
      <p:sp>
        <p:nvSpPr>
          <p:cNvPr id="15" name="Shape 11"/>
          <p:cNvSpPr/>
          <p:nvPr/>
        </p:nvSpPr>
        <p:spPr>
          <a:xfrm>
            <a:off x="9464040" y="2487168"/>
            <a:ext cx="2011680" cy="274320"/>
          </a:xfrm>
          <a:prstGeom prst="roundRect">
            <a:avLst>
              <a:gd name="adj" fmla="val 60000"/>
            </a:avLst>
          </a:prstGeom>
          <a:solidFill>
            <a:schemeClr val="accent2">
              <a:alpha val="20000"/>
            </a:schemeClr>
          </a:solidFill>
          <a:ln w="12700">
            <a:solidFill>
              <a:schemeClr val="accent2"/>
            </a:solidFill>
            <a:prstDash val="solid"/>
          </a:ln>
        </p:spPr>
      </p:sp>
      <p:sp>
        <p:nvSpPr>
          <p:cNvPr id="16" name="Text 12"/>
          <p:cNvSpPr txBox="1"/>
          <p:nvPr/>
        </p:nvSpPr>
        <p:spPr>
          <a:xfrm>
            <a:off x="9464040" y="2487168"/>
            <a:ext cx="2011680" cy="274320"/>
          </a:xfrm>
          <a:prstGeom prst="rect">
            <a:avLst/>
          </a:prstGeom>
          <a:noFill/>
          <a:ln/>
        </p:spPr>
        <p:txBody>
          <a:bodyPr wrap="square" lIns="0" tIns="0" rIns="0" bIns="0" rtlCol="0" anchor="ctr"/>
          <a:lstStyle/>
          <a:p>
            <a:pPr algn="ctr" indent="0" marL="0">
              <a:buNone/>
            </a:pPr>
            <a:r>
              <a:rPr lang="en-US" sz="1100" b="1" dirty="0">
                <a:solidFill>
                  <a:schemeClr val="accent2"/>
                </a:solidFill>
              </a:rPr>
              <a:t>BLOCKED · NEVER EXECUTED</a:t>
            </a:r>
            <a:endParaRPr lang="en-US" sz="1100" dirty="0"/>
          </a:p>
        </p:txBody>
      </p:sp>
      <p:sp>
        <p:nvSpPr>
          <p:cNvPr id="17" name="safe card"/>
          <p:cNvSpPr/>
          <p:nvPr/>
        </p:nvSpPr>
        <p:spPr>
          <a:xfrm>
            <a:off x="9281160" y="3840480"/>
            <a:ext cx="2377440" cy="1691640"/>
          </a:xfrm>
          <a:prstGeom prst="roundRect">
            <a:avLst>
              <a:gd name="adj" fmla="val 6486"/>
            </a:avLst>
          </a:prstGeom>
          <a:solidFill>
            <a:schemeClr val="tx2"/>
          </a:solidFill>
          <a:ln w="12700">
            <a:solidFill>
              <a:srgbClr val="2DD4BF"/>
            </a:solidFill>
            <a:prstDash val="solid"/>
          </a:ln>
          <a:effectLst>
            <a:outerShdw sx="100000" sy="100000" kx="0" ky="0" algn="bl" rotWithShape="0" blurRad="101600" dist="38100" dir="5400000">
              <a:srgbClr val="000000">
                <a:alpha val="35000"/>
              </a:srgbClr>
            </a:outerShdw>
          </a:effectLst>
        </p:spPr>
      </p:sp>
      <p:sp>
        <p:nvSpPr>
          <p:cNvPr id="18" name="Shape 14"/>
          <p:cNvSpPr/>
          <p:nvPr/>
        </p:nvSpPr>
        <p:spPr>
          <a:xfrm>
            <a:off x="9464040" y="4005072"/>
            <a:ext cx="548640" cy="548640"/>
          </a:xfrm>
          <a:prstGeom prst="roundRect">
            <a:avLst>
              <a:gd name="adj" fmla="val 23333"/>
            </a:avLst>
          </a:prstGeom>
          <a:solidFill>
            <a:schemeClr val="accent1">
              <a:alpha val="18000"/>
            </a:schemeClr>
          </a:solidFill>
          <a:ln w="12700">
            <a:solidFill>
              <a:schemeClr val="accent1">
                <a:alpha val="60000"/>
              </a:schemeClr>
            </a:solidFill>
            <a:prstDash val="solid"/>
          </a:ln>
        </p:spPr>
      </p:sp>
      <p:pic>
        <p:nvPicPr>
          <p:cNvPr id="19" name="Image 2" descr="check">    </p:cNvPr>
          <p:cNvPicPr>
            <a:picLocks noChangeAspect="1"/>
          </p:cNvPicPr>
          <p:nvPr/>
        </p:nvPicPr>
        <p:blipFill>
          <a:blip r:embed="rId3"/>
          <a:stretch>
            <a:fillRect/>
          </a:stretch>
        </p:blipFill>
        <p:spPr>
          <a:xfrm>
            <a:off x="9562795" y="4103827"/>
            <a:ext cx="351130" cy="351130"/>
          </a:xfrm>
          <a:prstGeom prst="rect">
            <a:avLst/>
          </a:prstGeom>
        </p:spPr>
      </p:pic>
      <p:sp>
        <p:nvSpPr>
          <p:cNvPr id="20" name="Text 15"/>
          <p:cNvSpPr txBox="1"/>
          <p:nvPr/>
        </p:nvSpPr>
        <p:spPr>
          <a:xfrm>
            <a:off x="10104120" y="3977640"/>
            <a:ext cx="1463040" cy="594360"/>
          </a:xfrm>
          <a:prstGeom prst="rect">
            <a:avLst/>
          </a:prstGeom>
          <a:noFill/>
          <a:ln/>
        </p:spPr>
        <p:txBody>
          <a:bodyPr wrap="square" lIns="0" tIns="0" rIns="0" bIns="0" rtlCol="0" anchor="t"/>
          <a:lstStyle/>
          <a:p>
            <a:pPr indent="0" marL="0">
              <a:buNone/>
            </a:pPr>
            <a:r>
              <a:rPr lang="en-US" sz="3200" b="1" dirty="0">
                <a:solidFill>
                  <a:schemeClr val="accent1"/>
                </a:solidFill>
              </a:rPr>
              <a:t>4</a:t>
            </a:r>
            <a:endParaRPr lang="en-US" sz="3200" dirty="0"/>
          </a:p>
        </p:txBody>
      </p:sp>
      <p:sp>
        <p:nvSpPr>
          <p:cNvPr id="21" name="Text 16"/>
          <p:cNvSpPr txBox="1"/>
          <p:nvPr/>
        </p:nvSpPr>
        <p:spPr>
          <a:xfrm>
            <a:off x="9464040" y="4663440"/>
            <a:ext cx="2103120" cy="502920"/>
          </a:xfrm>
          <a:prstGeom prst="rect">
            <a:avLst/>
          </a:prstGeom>
          <a:noFill/>
          <a:ln/>
        </p:spPr>
        <p:txBody>
          <a:bodyPr wrap="square" lIns="0" tIns="0" rIns="0" bIns="0" rtlCol="0" anchor="t"/>
          <a:lstStyle/>
          <a:p>
            <a:pPr indent="0" marL="0">
              <a:buNone/>
            </a:pPr>
            <a:r>
              <a:rPr lang="en-US" sz="1300" dirty="0">
                <a:solidFill>
                  <a:schemeClr val="bg1"/>
                </a:solidFill>
              </a:rPr>
              <a:t>regional totals delivered to the model</a:t>
            </a:r>
            <a:endParaRPr lang="en-US" sz="1300" dirty="0"/>
          </a:p>
        </p:txBody>
      </p:sp>
      <p:sp>
        <p:nvSpPr>
          <p:cNvPr id="22" name="Shape 17"/>
          <p:cNvSpPr/>
          <p:nvPr/>
        </p:nvSpPr>
        <p:spPr>
          <a:xfrm>
            <a:off x="9464040" y="5138928"/>
            <a:ext cx="2011680" cy="274320"/>
          </a:xfrm>
          <a:prstGeom prst="roundRect">
            <a:avLst>
              <a:gd name="adj" fmla="val 60000"/>
            </a:avLst>
          </a:prstGeom>
          <a:solidFill>
            <a:schemeClr val="accent1">
              <a:alpha val="20000"/>
            </a:schemeClr>
          </a:solidFill>
          <a:ln w="12700">
            <a:solidFill>
              <a:schemeClr val="accent1"/>
            </a:solidFill>
            <a:prstDash val="solid"/>
          </a:ln>
        </p:spPr>
      </p:sp>
      <p:sp>
        <p:nvSpPr>
          <p:cNvPr id="23" name="Text 18"/>
          <p:cNvSpPr txBox="1"/>
          <p:nvPr/>
        </p:nvSpPr>
        <p:spPr>
          <a:xfrm>
            <a:off x="9464040" y="5138928"/>
            <a:ext cx="2011680" cy="274320"/>
          </a:xfrm>
          <a:prstGeom prst="rect">
            <a:avLst/>
          </a:prstGeom>
          <a:noFill/>
          <a:ln/>
        </p:spPr>
        <p:txBody>
          <a:bodyPr wrap="square" lIns="0" tIns="0" rIns="0" bIns="0" rtlCol="0" anchor="ctr"/>
          <a:lstStyle/>
          <a:p>
            <a:pPr algn="ctr" indent="0" marL="0">
              <a:buNone/>
            </a:pPr>
            <a:r>
              <a:rPr lang="en-US" sz="1100" b="1" dirty="0">
                <a:solidFill>
                  <a:schemeClr val="accent1"/>
                </a:solidFill>
              </a:rPr>
              <a:t>0 PERSONAL VALUES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One simple question. One very broad tool.</a:t>
            </a:r>
            <a:endParaRPr lang="en-US" sz="3400" dirty="0"/>
          </a:p>
        </p:txBody>
      </p:sp>
      <p:sp>
        <p:nvSpPr>
          <p:cNvPr id="3" name="question card"/>
          <p:cNvSpPr/>
          <p:nvPr/>
        </p:nvSpPr>
        <p:spPr>
          <a:xfrm>
            <a:off x="548640" y="1417320"/>
            <a:ext cx="3749040" cy="4160520"/>
          </a:xfrm>
          <a:prstGeom prst="roundRect">
            <a:avLst>
              <a:gd name="adj" fmla="val 2927"/>
            </a:avLst>
          </a:prstGeom>
          <a:solidFill>
            <a:schemeClr val="tx2"/>
          </a:solidFill>
          <a:ln w="12700">
            <a:solidFill>
              <a:srgbClr val="2A3A55"/>
            </a:solidFill>
            <a:prstDash val="solid"/>
          </a:ln>
        </p:spPr>
      </p:sp>
      <p:sp>
        <p:nvSpPr>
          <p:cNvPr id="4" name="Shape 2"/>
          <p:cNvSpPr/>
          <p:nvPr/>
        </p:nvSpPr>
        <p:spPr>
          <a:xfrm>
            <a:off x="777240" y="1645920"/>
            <a:ext cx="566928" cy="566928"/>
          </a:xfrm>
          <a:prstGeom prst="roundRect">
            <a:avLst>
              <a:gd name="adj" fmla="val 22581"/>
            </a:avLst>
          </a:prstGeom>
          <a:solidFill>
            <a:schemeClr val="accent4">
              <a:alpha val="18000"/>
            </a:schemeClr>
          </a:solidFill>
          <a:ln w="12700">
            <a:solidFill>
              <a:schemeClr val="accent4">
                <a:alpha val="60000"/>
              </a:schemeClr>
            </a:solidFill>
            <a:prstDash val="solid"/>
          </a:ln>
        </p:spPr>
      </p:sp>
      <p:pic>
        <p:nvPicPr>
          <p:cNvPr id="5" name="Image 0" descr="user">    </p:cNvPr>
          <p:cNvPicPr>
            <a:picLocks noChangeAspect="1"/>
          </p:cNvPicPr>
          <p:nvPr/>
        </p:nvPicPr>
        <p:blipFill>
          <a:blip r:embed="rId1"/>
          <a:stretch>
            <a:fillRect/>
          </a:stretch>
        </p:blipFill>
        <p:spPr>
          <a:xfrm>
            <a:off x="879287" y="1747967"/>
            <a:ext cx="362834" cy="362834"/>
          </a:xfrm>
          <a:prstGeom prst="rect">
            <a:avLst/>
          </a:prstGeom>
        </p:spPr>
      </p:pic>
      <p:sp>
        <p:nvSpPr>
          <p:cNvPr id="6" name="Text 3"/>
          <p:cNvSpPr txBox="1"/>
          <p:nvPr/>
        </p:nvSpPr>
        <p:spPr>
          <a:xfrm>
            <a:off x="1463040" y="1737360"/>
            <a:ext cx="2651760" cy="365760"/>
          </a:xfrm>
          <a:prstGeom prst="rect">
            <a:avLst/>
          </a:prstGeom>
          <a:noFill/>
          <a:ln/>
        </p:spPr>
        <p:txBody>
          <a:bodyPr wrap="square" lIns="0" tIns="0" rIns="0" bIns="0" rtlCol="0" anchor="t"/>
          <a:lstStyle/>
          <a:p>
            <a:pPr indent="0" marL="0">
              <a:buNone/>
            </a:pPr>
            <a:r>
              <a:rPr lang="en-US" sz="1600" dirty="0">
                <a:solidFill>
                  <a:schemeClr val="bg2"/>
                </a:solidFill>
              </a:rPr>
              <a:t>The user asks</a:t>
            </a:r>
            <a:endParaRPr lang="en-US" sz="1600" dirty="0"/>
          </a:p>
        </p:txBody>
      </p:sp>
      <p:sp>
        <p:nvSpPr>
          <p:cNvPr id="7" name="Shape 4"/>
          <p:cNvSpPr/>
          <p:nvPr/>
        </p:nvSpPr>
        <p:spPr>
          <a:xfrm>
            <a:off x="777240" y="2377440"/>
            <a:ext cx="3291840" cy="1051560"/>
          </a:xfrm>
          <a:prstGeom prst="roundRect">
            <a:avLst>
              <a:gd name="adj" fmla="val 17391"/>
            </a:avLst>
          </a:prstGeom>
          <a:solidFill>
            <a:schemeClr val="tx1"/>
          </a:solidFill>
          <a:ln w="12700">
            <a:solidFill>
              <a:srgbClr val="7DD3FC"/>
            </a:solidFill>
            <a:prstDash val="solid"/>
          </a:ln>
        </p:spPr>
      </p:sp>
      <p:sp>
        <p:nvSpPr>
          <p:cNvPr id="8" name="Text 5"/>
          <p:cNvSpPr txBox="1"/>
          <p:nvPr/>
        </p:nvSpPr>
        <p:spPr>
          <a:xfrm>
            <a:off x="914400" y="2468880"/>
            <a:ext cx="3017520" cy="868680"/>
          </a:xfrm>
          <a:prstGeom prst="rect">
            <a:avLst/>
          </a:prstGeom>
          <a:noFill/>
          <a:ln/>
        </p:spPr>
        <p:txBody>
          <a:bodyPr wrap="square" lIns="0" tIns="0" rIns="0" bIns="0" rtlCol="0" anchor="ctr"/>
          <a:lstStyle/>
          <a:p>
            <a:pPr indent="0" marL="0">
              <a:buNone/>
            </a:pPr>
            <a:r>
              <a:rPr lang="en-US" sz="2000" b="1" dirty="0">
                <a:solidFill>
                  <a:schemeClr val="bg1"/>
                </a:solidFill>
              </a:rPr>
              <a:t>“Summarize September sales by region.”</a:t>
            </a:r>
            <a:endParaRPr lang="en-US" sz="2000" dirty="0"/>
          </a:p>
        </p:txBody>
      </p:sp>
      <p:sp>
        <p:nvSpPr>
          <p:cNvPr id="9" name="Text 6"/>
          <p:cNvSpPr txBox="1"/>
          <p:nvPr/>
        </p:nvSpPr>
        <p:spPr>
          <a:xfrm>
            <a:off x="777240" y="3749040"/>
            <a:ext cx="3291840" cy="320040"/>
          </a:xfrm>
          <a:prstGeom prst="rect">
            <a:avLst/>
          </a:prstGeom>
          <a:noFill/>
          <a:ln/>
        </p:spPr>
        <p:txBody>
          <a:bodyPr wrap="square" lIns="0" tIns="0" rIns="0" bIns="0" rtlCol="0" anchor="t"/>
          <a:lstStyle/>
          <a:p>
            <a:pPr indent="0" marL="0">
              <a:buNone/>
            </a:pPr>
            <a:r>
              <a:rPr lang="en-US" sz="1600" dirty="0">
                <a:solidFill>
                  <a:schemeClr val="bg2"/>
                </a:solidFill>
              </a:rPr>
              <a:t>What the task needs</a:t>
            </a:r>
            <a:endParaRPr lang="en-US" sz="1600" dirty="0"/>
          </a:p>
        </p:txBody>
      </p:sp>
      <p:sp>
        <p:nvSpPr>
          <p:cNvPr id="10" name="Text 7"/>
          <p:cNvSpPr txBox="1"/>
          <p:nvPr/>
        </p:nvSpPr>
        <p:spPr>
          <a:xfrm>
            <a:off x="777240" y="4114800"/>
            <a:ext cx="3291840" cy="685800"/>
          </a:xfrm>
          <a:prstGeom prst="rect">
            <a:avLst/>
          </a:prstGeom>
          <a:noFill/>
          <a:ln/>
        </p:spPr>
        <p:txBody>
          <a:bodyPr wrap="square" lIns="0" tIns="0" rIns="0" bIns="0" rtlCol="0" anchor="t"/>
          <a:lstStyle/>
          <a:p>
            <a:pPr indent="0" marL="0">
              <a:buNone/>
            </a:pPr>
            <a:r>
              <a:rPr lang="en-US" sz="3600" b="1" dirty="0">
                <a:solidFill>
                  <a:schemeClr val="accent1"/>
                </a:solidFill>
              </a:rPr>
              <a:t>4 regional totals</a:t>
            </a:r>
            <a:endParaRPr lang="en-US" sz="3600" dirty="0"/>
          </a:p>
        </p:txBody>
      </p:sp>
      <p:sp>
        <p:nvSpPr>
          <p:cNvPr id="11" name="Text 8"/>
          <p:cNvSpPr txBox="1"/>
          <p:nvPr/>
        </p:nvSpPr>
        <p:spPr>
          <a:xfrm>
            <a:off x="777240" y="4846320"/>
            <a:ext cx="3291840" cy="365760"/>
          </a:xfrm>
          <a:prstGeom prst="rect">
            <a:avLst/>
          </a:prstGeom>
          <a:noFill/>
          <a:ln/>
        </p:spPr>
        <p:txBody>
          <a:bodyPr wrap="square" lIns="0" tIns="0" rIns="0" bIns="0" rtlCol="0" anchor="t"/>
          <a:lstStyle/>
          <a:p>
            <a:pPr indent="0" marL="0">
              <a:buNone/>
            </a:pPr>
            <a:r>
              <a:rPr lang="en-US" sz="1600" dirty="0">
                <a:solidFill>
                  <a:schemeClr val="bg2"/>
                </a:solidFill>
              </a:rPr>
              <a:t>North · South · East · West</a:t>
            </a:r>
            <a:endParaRPr lang="en-US" sz="1600" dirty="0"/>
          </a:p>
        </p:txBody>
      </p:sp>
      <p:sp>
        <p:nvSpPr>
          <p:cNvPr id="12" name="Shape 9"/>
          <p:cNvSpPr/>
          <p:nvPr/>
        </p:nvSpPr>
        <p:spPr>
          <a:xfrm>
            <a:off x="4389120" y="3474720"/>
            <a:ext cx="411480" cy="0"/>
          </a:xfrm>
          <a:prstGeom prst="line">
            <a:avLst/>
          </a:prstGeom>
          <a:noFill/>
          <a:ln w="31750">
            <a:solidFill>
              <a:schemeClr val="bg2"/>
            </a:solidFill>
            <a:prstDash val="solid"/>
            <a:tailEnd type="triangle"/>
          </a:ln>
        </p:spPr>
      </p:sp>
      <p:sp>
        <p:nvSpPr>
          <p:cNvPr id="13" name="broad call card"/>
          <p:cNvSpPr/>
          <p:nvPr/>
        </p:nvSpPr>
        <p:spPr>
          <a:xfrm>
            <a:off x="4892040" y="1417320"/>
            <a:ext cx="6748272" cy="4160520"/>
          </a:xfrm>
          <a:prstGeom prst="roundRect">
            <a:avLst>
              <a:gd name="adj" fmla="val 2637"/>
            </a:avLst>
          </a:prstGeom>
          <a:solidFill>
            <a:schemeClr val="tx2"/>
          </a:solidFill>
          <a:ln w="12700">
            <a:solidFill>
              <a:srgbClr val="FB7185"/>
            </a:solidFill>
            <a:prstDash val="solid"/>
          </a:ln>
        </p:spPr>
      </p:sp>
      <p:sp>
        <p:nvSpPr>
          <p:cNvPr id="14" name="Shape 11"/>
          <p:cNvSpPr/>
          <p:nvPr/>
        </p:nvSpPr>
        <p:spPr>
          <a:xfrm>
            <a:off x="5120640" y="1645920"/>
            <a:ext cx="566928" cy="566928"/>
          </a:xfrm>
          <a:prstGeom prst="roundRect">
            <a:avLst>
              <a:gd name="adj" fmla="val 22581"/>
            </a:avLst>
          </a:prstGeom>
          <a:solidFill>
            <a:schemeClr val="accent2">
              <a:alpha val="18000"/>
            </a:schemeClr>
          </a:solidFill>
          <a:ln w="12700">
            <a:solidFill>
              <a:schemeClr val="accent2">
                <a:alpha val="60000"/>
              </a:schemeClr>
            </a:solidFill>
            <a:prstDash val="solid"/>
          </a:ln>
        </p:spPr>
      </p:sp>
      <p:pic>
        <p:nvPicPr>
          <p:cNvPr id="15" name="Image 1" descr="database">    </p:cNvPr>
          <p:cNvPicPr>
            <a:picLocks noChangeAspect="1"/>
          </p:cNvPicPr>
          <p:nvPr/>
        </p:nvPicPr>
        <p:blipFill>
          <a:blip r:embed="rId2"/>
          <a:stretch>
            <a:fillRect/>
          </a:stretch>
        </p:blipFill>
        <p:spPr>
          <a:xfrm>
            <a:off x="5222687" y="1747967"/>
            <a:ext cx="362834" cy="362834"/>
          </a:xfrm>
          <a:prstGeom prst="rect">
            <a:avLst/>
          </a:prstGeom>
        </p:spPr>
      </p:pic>
      <p:sp>
        <p:nvSpPr>
          <p:cNvPr id="16" name="Text 12"/>
          <p:cNvSpPr txBox="1"/>
          <p:nvPr/>
        </p:nvSpPr>
        <p:spPr>
          <a:xfrm>
            <a:off x="5806440" y="1737360"/>
            <a:ext cx="5486400" cy="365760"/>
          </a:xfrm>
          <a:prstGeom prst="rect">
            <a:avLst/>
          </a:prstGeom>
          <a:noFill/>
          <a:ln/>
        </p:spPr>
        <p:txBody>
          <a:bodyPr wrap="square" lIns="0" tIns="0" rIns="0" bIns="0" rtlCol="0" anchor="t"/>
          <a:lstStyle/>
          <a:p>
            <a:pPr indent="0" marL="0">
              <a:buNone/>
            </a:pPr>
            <a:r>
              <a:rPr lang="en-US" sz="1600" dirty="0">
                <a:solidFill>
                  <a:schemeClr val="bg2"/>
                </a:solidFill>
              </a:rPr>
              <a:t>What a broad CRM tool call requests</a:t>
            </a:r>
            <a:endParaRPr lang="en-US" sz="1600" dirty="0"/>
          </a:p>
        </p:txBody>
      </p:sp>
      <p:sp>
        <p:nvSpPr>
          <p:cNvPr id="17" name="Text 13"/>
          <p:cNvSpPr txBox="1"/>
          <p:nvPr/>
        </p:nvSpPr>
        <p:spPr>
          <a:xfrm>
            <a:off x="5120640" y="2331720"/>
            <a:ext cx="6309360" cy="1234440"/>
          </a:xfrm>
          <a:prstGeom prst="rect">
            <a:avLst/>
          </a:prstGeom>
          <a:noFill/>
          <a:ln/>
        </p:spPr>
        <p:txBody>
          <a:bodyPr wrap="square" lIns="0" tIns="0" rIns="0" bIns="0" rtlCol="0" anchor="t"/>
          <a:lstStyle/>
          <a:p>
            <a:pPr indent="0" marL="0">
              <a:buNone/>
            </a:pPr>
            <a:r>
              <a:rPr lang="en-US" sz="1600" dirty="0">
                <a:solidFill>
                  <a:schemeClr val="accent4"/>
                </a:solidFill>
                <a:latin typeface="Consolas" pitchFamily="34" charset="0"/>
                <a:ea typeface="Consolas" pitchFamily="34" charset="-122"/>
                <a:cs typeface="Consolas" pitchFamily="34" charset="-120"/>
              </a:rPr>
              <a:t>crm.get_customers(</a:t>
            </a:r>
            <a:endParaRPr lang="en-US" sz="1600" dirty="0"/>
          </a:p>
          <a:p>
            <a:pPr indent="0" marL="0">
              <a:buNone/>
            </a:pPr>
            <a:r>
              <a:rPr lang="en-US" sz="1600" dirty="0">
                <a:solidFill>
                  <a:schemeClr val="accent4"/>
                </a:solidFill>
                <a:latin typeface="Consolas" pitchFamily="34" charset="0"/>
                <a:ea typeface="Consolas" pitchFamily="34" charset="-122"/>
                <a:cs typeface="Consolas" pitchFamily="34" charset="-120"/>
              </a:rPr>
              <a:t>   fields=[region, email, synthetic_personal_id,</a:t>
            </a:r>
            <a:endParaRPr lang="en-US" sz="1600" dirty="0"/>
          </a:p>
          <a:p>
            <a:pPr indent="0" marL="0">
              <a:buNone/>
            </a:pPr>
            <a:r>
              <a:rPr lang="en-US" sz="1600" dirty="0">
                <a:solidFill>
                  <a:schemeClr val="accent4"/>
                </a:solidFill>
                <a:latin typeface="Consolas" pitchFamily="34" charset="0"/>
                <a:ea typeface="Consolas" pitchFamily="34" charset="-122"/>
                <a:cs typeface="Consolas" pitchFamily="34" charset="-120"/>
              </a:rPr>
              <a:t>           total_spend_cents],</a:t>
            </a:r>
            <a:endParaRPr lang="en-US" sz="1600" dirty="0"/>
          </a:p>
          <a:p>
            <a:pPr indent="0" marL="0">
              <a:buNone/>
            </a:pPr>
            <a:r>
              <a:rPr lang="en-US" sz="1600" dirty="0">
                <a:solidFill>
                  <a:schemeClr val="accent4"/>
                </a:solidFill>
                <a:latin typeface="Consolas" pitchFamily="34" charset="0"/>
                <a:ea typeface="Consolas" pitchFamily="34" charset="-122"/>
                <a:cs typeface="Consolas" pitchFamily="34" charset="-120"/>
              </a:rPr>
              <a:t>   month="2026-09", limit=5000)</a:t>
            </a:r>
            <a:endParaRPr lang="en-US" sz="1600" dirty="0"/>
          </a:p>
        </p:txBody>
      </p:sp>
      <p:sp>
        <p:nvSpPr>
          <p:cNvPr id="18" name="Shape 14"/>
          <p:cNvSpPr/>
          <p:nvPr/>
        </p:nvSpPr>
        <p:spPr>
          <a:xfrm>
            <a:off x="5120640" y="3657600"/>
            <a:ext cx="822960" cy="329184"/>
          </a:xfrm>
          <a:prstGeom prst="roundRect">
            <a:avLst>
              <a:gd name="adj" fmla="val 50000"/>
            </a:avLst>
          </a:prstGeom>
          <a:solidFill>
            <a:schemeClr val="accent4">
              <a:alpha val="18000"/>
            </a:schemeClr>
          </a:solidFill>
          <a:ln w="9525">
            <a:solidFill>
              <a:schemeClr val="accent4"/>
            </a:solidFill>
            <a:prstDash val="solid"/>
          </a:ln>
        </p:spPr>
      </p:sp>
      <p:sp>
        <p:nvSpPr>
          <p:cNvPr id="19" name="Text 15"/>
          <p:cNvSpPr txBox="1"/>
          <p:nvPr/>
        </p:nvSpPr>
        <p:spPr>
          <a:xfrm>
            <a:off x="5120640" y="3657600"/>
            <a:ext cx="822960" cy="329184"/>
          </a:xfrm>
          <a:prstGeom prst="rect">
            <a:avLst/>
          </a:prstGeom>
          <a:noFill/>
          <a:ln/>
        </p:spPr>
        <p:txBody>
          <a:bodyPr wrap="square" lIns="0" tIns="0" rIns="0" bIns="0" rtlCol="0" anchor="ctr"/>
          <a:lstStyle/>
          <a:p>
            <a:pPr algn="ctr" indent="0" marL="0">
              <a:buNone/>
            </a:pPr>
            <a:r>
              <a:rPr lang="en-US" sz="1300" dirty="0">
                <a:solidFill>
                  <a:schemeClr val="accent4"/>
                </a:solidFill>
                <a:latin typeface="Consolas" pitchFamily="34" charset="0"/>
                <a:ea typeface="Consolas" pitchFamily="34" charset="-122"/>
                <a:cs typeface="Consolas" pitchFamily="34" charset="-120"/>
              </a:rPr>
              <a:t>region</a:t>
            </a:r>
            <a:endParaRPr lang="en-US" sz="1300" dirty="0"/>
          </a:p>
        </p:txBody>
      </p:sp>
      <p:sp>
        <p:nvSpPr>
          <p:cNvPr id="20" name="Shape 16"/>
          <p:cNvSpPr/>
          <p:nvPr/>
        </p:nvSpPr>
        <p:spPr>
          <a:xfrm>
            <a:off x="6053328" y="3657600"/>
            <a:ext cx="731520" cy="329184"/>
          </a:xfrm>
          <a:prstGeom prst="roundRect">
            <a:avLst>
              <a:gd name="adj" fmla="val 50000"/>
            </a:avLst>
          </a:prstGeom>
          <a:solidFill>
            <a:schemeClr val="accent2">
              <a:alpha val="18000"/>
            </a:schemeClr>
          </a:solidFill>
          <a:ln w="9525">
            <a:solidFill>
              <a:schemeClr val="accent2"/>
            </a:solidFill>
            <a:prstDash val="solid"/>
          </a:ln>
        </p:spPr>
      </p:sp>
      <p:sp>
        <p:nvSpPr>
          <p:cNvPr id="21" name="Text 17"/>
          <p:cNvSpPr txBox="1"/>
          <p:nvPr/>
        </p:nvSpPr>
        <p:spPr>
          <a:xfrm>
            <a:off x="6053328" y="3657600"/>
            <a:ext cx="731520" cy="329184"/>
          </a:xfrm>
          <a:prstGeom prst="rect">
            <a:avLst/>
          </a:prstGeom>
          <a:noFill/>
          <a:ln/>
        </p:spPr>
        <p:txBody>
          <a:bodyPr wrap="square" lIns="0" tIns="0" rIns="0" bIns="0" rtlCol="0" anchor="ctr"/>
          <a:lstStyle/>
          <a:p>
            <a:pPr algn="ctr" indent="0" marL="0">
              <a:buNone/>
            </a:pPr>
            <a:r>
              <a:rPr lang="en-US" sz="1300" dirty="0">
                <a:solidFill>
                  <a:schemeClr val="accent2"/>
                </a:solidFill>
                <a:latin typeface="Consolas" pitchFamily="34" charset="0"/>
                <a:ea typeface="Consolas" pitchFamily="34" charset="-122"/>
                <a:cs typeface="Consolas" pitchFamily="34" charset="-120"/>
              </a:rPr>
              <a:t>email</a:t>
            </a:r>
            <a:endParaRPr lang="en-US" sz="1300" dirty="0"/>
          </a:p>
        </p:txBody>
      </p:sp>
      <p:sp>
        <p:nvSpPr>
          <p:cNvPr id="22" name="Shape 18"/>
          <p:cNvSpPr/>
          <p:nvPr/>
        </p:nvSpPr>
        <p:spPr>
          <a:xfrm>
            <a:off x="6894576" y="3657600"/>
            <a:ext cx="2194560" cy="329184"/>
          </a:xfrm>
          <a:prstGeom prst="roundRect">
            <a:avLst>
              <a:gd name="adj" fmla="val 50000"/>
            </a:avLst>
          </a:prstGeom>
          <a:solidFill>
            <a:schemeClr val="accent2">
              <a:alpha val="18000"/>
            </a:schemeClr>
          </a:solidFill>
          <a:ln w="9525">
            <a:solidFill>
              <a:schemeClr val="accent2"/>
            </a:solidFill>
            <a:prstDash val="solid"/>
          </a:ln>
        </p:spPr>
      </p:sp>
      <p:sp>
        <p:nvSpPr>
          <p:cNvPr id="23" name="Text 19"/>
          <p:cNvSpPr txBox="1"/>
          <p:nvPr/>
        </p:nvSpPr>
        <p:spPr>
          <a:xfrm>
            <a:off x="6894576" y="3657600"/>
            <a:ext cx="2194560" cy="329184"/>
          </a:xfrm>
          <a:prstGeom prst="rect">
            <a:avLst/>
          </a:prstGeom>
          <a:noFill/>
          <a:ln/>
        </p:spPr>
        <p:txBody>
          <a:bodyPr wrap="square" lIns="0" tIns="0" rIns="0" bIns="0" rtlCol="0" anchor="ctr"/>
          <a:lstStyle/>
          <a:p>
            <a:pPr algn="ctr" indent="0" marL="0">
              <a:buNone/>
            </a:pPr>
            <a:r>
              <a:rPr lang="en-US" sz="1300" dirty="0">
                <a:solidFill>
                  <a:schemeClr val="accent2"/>
                </a:solidFill>
                <a:latin typeface="Consolas" pitchFamily="34" charset="0"/>
                <a:ea typeface="Consolas" pitchFamily="34" charset="-122"/>
                <a:cs typeface="Consolas" pitchFamily="34" charset="-120"/>
              </a:rPr>
              <a:t>synthetic_personal_id</a:t>
            </a:r>
            <a:endParaRPr lang="en-US" sz="1300" dirty="0"/>
          </a:p>
        </p:txBody>
      </p:sp>
      <p:sp>
        <p:nvSpPr>
          <p:cNvPr id="24" name="Shape 20"/>
          <p:cNvSpPr/>
          <p:nvPr/>
        </p:nvSpPr>
        <p:spPr>
          <a:xfrm>
            <a:off x="9198864" y="3657600"/>
            <a:ext cx="1828800" cy="329184"/>
          </a:xfrm>
          <a:prstGeom prst="roundRect">
            <a:avLst>
              <a:gd name="adj" fmla="val 50000"/>
            </a:avLst>
          </a:prstGeom>
          <a:solidFill>
            <a:schemeClr val="accent3">
              <a:alpha val="18000"/>
            </a:schemeClr>
          </a:solidFill>
          <a:ln w="9525">
            <a:solidFill>
              <a:schemeClr val="accent3"/>
            </a:solidFill>
            <a:prstDash val="solid"/>
          </a:ln>
        </p:spPr>
      </p:sp>
      <p:sp>
        <p:nvSpPr>
          <p:cNvPr id="25" name="Text 21"/>
          <p:cNvSpPr txBox="1"/>
          <p:nvPr/>
        </p:nvSpPr>
        <p:spPr>
          <a:xfrm>
            <a:off x="9198864" y="3657600"/>
            <a:ext cx="1828800" cy="329184"/>
          </a:xfrm>
          <a:prstGeom prst="rect">
            <a:avLst/>
          </a:prstGeom>
          <a:noFill/>
          <a:ln/>
        </p:spPr>
        <p:txBody>
          <a:bodyPr wrap="square" lIns="0" tIns="0" rIns="0" bIns="0" rtlCol="0" anchor="ctr"/>
          <a:lstStyle/>
          <a:p>
            <a:pPr algn="ctr" indent="0" marL="0">
              <a:buNone/>
            </a:pPr>
            <a:r>
              <a:rPr lang="en-US" sz="1300" dirty="0">
                <a:solidFill>
                  <a:schemeClr val="accent3"/>
                </a:solidFill>
                <a:latin typeface="Consolas" pitchFamily="34" charset="0"/>
                <a:ea typeface="Consolas" pitchFamily="34" charset="-122"/>
                <a:cs typeface="Consolas" pitchFamily="34" charset="-120"/>
              </a:rPr>
              <a:t>total_spend_cents</a:t>
            </a:r>
            <a:endParaRPr lang="en-US" sz="1300" dirty="0"/>
          </a:p>
        </p:txBody>
      </p:sp>
      <p:sp>
        <p:nvSpPr>
          <p:cNvPr id="26" name="Text 22"/>
          <p:cNvSpPr txBox="1"/>
          <p:nvPr/>
        </p:nvSpPr>
        <p:spPr>
          <a:xfrm>
            <a:off x="5120640" y="4206240"/>
            <a:ext cx="2011680" cy="685800"/>
          </a:xfrm>
          <a:prstGeom prst="rect">
            <a:avLst/>
          </a:prstGeom>
          <a:noFill/>
          <a:ln/>
        </p:spPr>
        <p:txBody>
          <a:bodyPr wrap="square" lIns="0" tIns="0" rIns="0" bIns="0" rtlCol="0" anchor="t"/>
          <a:lstStyle/>
          <a:p>
            <a:pPr indent="0" marL="0">
              <a:buNone/>
            </a:pPr>
            <a:r>
              <a:rPr lang="en-US" sz="4000" b="1" dirty="0">
                <a:solidFill>
                  <a:schemeClr val="accent2"/>
                </a:solidFill>
              </a:rPr>
              <a:t>5,000</a:t>
            </a:r>
            <a:endParaRPr lang="en-US" sz="4000" dirty="0"/>
          </a:p>
        </p:txBody>
      </p:sp>
      <p:sp>
        <p:nvSpPr>
          <p:cNvPr id="27" name="Text 23"/>
          <p:cNvSpPr txBox="1"/>
          <p:nvPr/>
        </p:nvSpPr>
        <p:spPr>
          <a:xfrm>
            <a:off x="5120640" y="4892040"/>
            <a:ext cx="2194560" cy="457200"/>
          </a:xfrm>
          <a:prstGeom prst="rect">
            <a:avLst/>
          </a:prstGeom>
          <a:noFill/>
          <a:ln/>
        </p:spPr>
        <p:txBody>
          <a:bodyPr wrap="square" lIns="0" tIns="0" rIns="0" bIns="0" rtlCol="0" anchor="t"/>
          <a:lstStyle/>
          <a:p>
            <a:pPr indent="0" marL="0">
              <a:buNone/>
            </a:pPr>
            <a:r>
              <a:rPr lang="en-US" sz="1400" dirty="0">
                <a:solidFill>
                  <a:schemeClr val="bg1"/>
                </a:solidFill>
              </a:rPr>
              <a:t>customer rows requested</a:t>
            </a:r>
            <a:endParaRPr lang="en-US" sz="1400" dirty="0"/>
          </a:p>
        </p:txBody>
      </p:sp>
      <p:sp>
        <p:nvSpPr>
          <p:cNvPr id="28" name="Text 24"/>
          <p:cNvSpPr txBox="1"/>
          <p:nvPr/>
        </p:nvSpPr>
        <p:spPr>
          <a:xfrm>
            <a:off x="7680960" y="4206240"/>
            <a:ext cx="2194560" cy="685800"/>
          </a:xfrm>
          <a:prstGeom prst="rect">
            <a:avLst/>
          </a:prstGeom>
          <a:noFill/>
          <a:ln/>
        </p:spPr>
        <p:txBody>
          <a:bodyPr wrap="square" lIns="0" tIns="0" rIns="0" bIns="0" rtlCol="0" anchor="t"/>
          <a:lstStyle/>
          <a:p>
            <a:pPr indent="0" marL="0">
              <a:buNone/>
            </a:pPr>
            <a:r>
              <a:rPr lang="en-US" sz="4000" b="1" dirty="0">
                <a:solidFill>
                  <a:schemeClr val="accent2"/>
                </a:solidFill>
              </a:rPr>
              <a:t>10,000</a:t>
            </a:r>
            <a:endParaRPr lang="en-US" sz="4000" dirty="0"/>
          </a:p>
        </p:txBody>
      </p:sp>
      <p:sp>
        <p:nvSpPr>
          <p:cNvPr id="29" name="Text 25"/>
          <p:cNvSpPr txBox="1"/>
          <p:nvPr/>
        </p:nvSpPr>
        <p:spPr>
          <a:xfrm>
            <a:off x="7680960" y="4892040"/>
            <a:ext cx="2377440" cy="457200"/>
          </a:xfrm>
          <a:prstGeom prst="rect">
            <a:avLst/>
          </a:prstGeom>
          <a:noFill/>
          <a:ln/>
        </p:spPr>
        <p:txBody>
          <a:bodyPr wrap="square" lIns="0" tIns="0" rIns="0" bIns="0" rtlCol="0" anchor="t"/>
          <a:lstStyle/>
          <a:p>
            <a:pPr indent="0" marL="0">
              <a:buNone/>
            </a:pPr>
            <a:r>
              <a:rPr lang="en-US" sz="1400" dirty="0">
                <a:solidFill>
                  <a:schemeClr val="bg1"/>
                </a:solidFill>
              </a:rPr>
              <a:t>personal values requested</a:t>
            </a:r>
            <a:endParaRPr lang="en-US" sz="1400" dirty="0"/>
          </a:p>
        </p:txBody>
      </p:sp>
      <p:sp>
        <p:nvSpPr>
          <p:cNvPr id="30" name="Shape 26"/>
          <p:cNvSpPr/>
          <p:nvPr/>
        </p:nvSpPr>
        <p:spPr>
          <a:xfrm>
            <a:off x="9692640" y="4407408"/>
            <a:ext cx="1737360" cy="329184"/>
          </a:xfrm>
          <a:prstGeom prst="roundRect">
            <a:avLst>
              <a:gd name="adj" fmla="val 50000"/>
            </a:avLst>
          </a:prstGeom>
          <a:solidFill>
            <a:schemeClr val="accent2">
              <a:alpha val="20000"/>
            </a:schemeClr>
          </a:solidFill>
          <a:ln w="12700">
            <a:solidFill>
              <a:schemeClr val="accent2"/>
            </a:solidFill>
            <a:prstDash val="solid"/>
          </a:ln>
        </p:spPr>
      </p:sp>
      <p:sp>
        <p:nvSpPr>
          <p:cNvPr id="31" name="Text 27"/>
          <p:cNvSpPr txBox="1"/>
          <p:nvPr/>
        </p:nvSpPr>
        <p:spPr>
          <a:xfrm>
            <a:off x="9692640" y="4407408"/>
            <a:ext cx="1737360" cy="329184"/>
          </a:xfrm>
          <a:prstGeom prst="rect">
            <a:avLst/>
          </a:prstGeom>
          <a:noFill/>
          <a:ln/>
        </p:spPr>
        <p:txBody>
          <a:bodyPr wrap="square" lIns="0" tIns="0" rIns="0" bIns="0" rtlCol="0" anchor="ctr"/>
          <a:lstStyle/>
          <a:p>
            <a:pPr algn="ctr" indent="0" marL="0">
              <a:buNone/>
            </a:pPr>
            <a:r>
              <a:rPr lang="en-US" sz="1200" b="1" dirty="0">
                <a:solidFill>
                  <a:schemeClr val="accent2"/>
                </a:solidFill>
              </a:rPr>
              <a:t>max class: PERSONAL</a:t>
            </a:r>
            <a:endParaRPr lang="en-US" sz="1200" dirty="0"/>
          </a:p>
        </p:txBody>
      </p:sp>
      <p:sp>
        <p:nvSpPr>
          <p:cNvPr id="32" name="Shape 28"/>
          <p:cNvSpPr/>
          <p:nvPr/>
        </p:nvSpPr>
        <p:spPr>
          <a:xfrm>
            <a:off x="548640" y="5715000"/>
            <a:ext cx="11091672" cy="548640"/>
          </a:xfrm>
          <a:prstGeom prst="roundRect">
            <a:avLst>
              <a:gd name="adj" fmla="val 13333"/>
            </a:avLst>
          </a:prstGeom>
          <a:solidFill>
            <a:schemeClr val="accent2">
              <a:alpha val="12000"/>
            </a:schemeClr>
          </a:solidFill>
          <a:ln w="12700">
            <a:solidFill>
              <a:srgbClr val="FB7185"/>
            </a:solidFill>
            <a:prstDash val="solid"/>
          </a:ln>
        </p:spPr>
      </p:sp>
      <p:sp>
        <p:nvSpPr>
          <p:cNvPr id="33" name="Text 29"/>
          <p:cNvSpPr txBox="1"/>
          <p:nvPr/>
        </p:nvSpPr>
        <p:spPr>
          <a:xfrm>
            <a:off x="777240" y="5715000"/>
            <a:ext cx="10698480" cy="548640"/>
          </a:xfrm>
          <a:prstGeom prst="rect">
            <a:avLst/>
          </a:prstGeom>
          <a:noFill/>
          <a:ln/>
        </p:spPr>
        <p:txBody>
          <a:bodyPr wrap="square" lIns="0" tIns="0" rIns="0" bIns="0" rtlCol="0" anchor="ctr"/>
          <a:lstStyle/>
          <a:p>
            <a:pPr indent="0" marL="0">
              <a:buNone/>
            </a:pPr>
            <a:r>
              <a:rPr lang="en-US" sz="1800" b="1" dirty="0">
                <a:solidFill>
                  <a:schemeClr val="bg1"/>
                </a:solidFill>
              </a:rPr>
              <a:t>The task needs regional totals; the tool exposes thousands of customer records.</a:t>
            </a:r>
            <a:endParaRPr lang="en-US" sz="1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Block, replan, complete</a:t>
            </a:r>
            <a:endParaRPr lang="en-US" sz="3400" dirty="0"/>
          </a:p>
        </p:txBody>
      </p:sp>
      <p:sp>
        <p:nvSpPr>
          <p:cNvPr id="3" name="traditional card"/>
          <p:cNvSpPr/>
          <p:nvPr/>
        </p:nvSpPr>
        <p:spPr>
          <a:xfrm>
            <a:off x="548640" y="1371600"/>
            <a:ext cx="5349240" cy="2240280"/>
          </a:xfrm>
          <a:prstGeom prst="roundRect">
            <a:avLst>
              <a:gd name="adj" fmla="val 4898"/>
            </a:avLst>
          </a:prstGeom>
          <a:solidFill>
            <a:schemeClr val="tx2"/>
          </a:solidFill>
          <a:ln w="12700">
            <a:solidFill>
              <a:srgbClr val="2A3A55"/>
            </a:solidFill>
            <a:prstDash val="solid"/>
          </a:ln>
        </p:spPr>
      </p:sp>
      <p:sp>
        <p:nvSpPr>
          <p:cNvPr id="4" name="Shape 2"/>
          <p:cNvSpPr/>
          <p:nvPr/>
        </p:nvSpPr>
        <p:spPr>
          <a:xfrm>
            <a:off x="777240" y="1572768"/>
            <a:ext cx="502920" cy="502920"/>
          </a:xfrm>
          <a:prstGeom prst="roundRect">
            <a:avLst>
              <a:gd name="adj" fmla="val 25455"/>
            </a:avLst>
          </a:prstGeom>
          <a:solidFill>
            <a:schemeClr val="accent2">
              <a:alpha val="18000"/>
            </a:schemeClr>
          </a:solidFill>
          <a:ln w="12700">
            <a:solidFill>
              <a:schemeClr val="accent2">
                <a:alpha val="60000"/>
              </a:schemeClr>
            </a:solidFill>
            <a:prstDash val="solid"/>
          </a:ln>
        </p:spPr>
      </p:sp>
      <p:pic>
        <p:nvPicPr>
          <p:cNvPr id="5" name="Image 0" descr="x">    </p:cNvPr>
          <p:cNvPicPr>
            <a:picLocks noChangeAspect="1"/>
          </p:cNvPicPr>
          <p:nvPr/>
        </p:nvPicPr>
        <p:blipFill>
          <a:blip r:embed="rId1"/>
          <a:stretch>
            <a:fillRect/>
          </a:stretch>
        </p:blipFill>
        <p:spPr>
          <a:xfrm>
            <a:off x="867766" y="1663294"/>
            <a:ext cx="321869" cy="321869"/>
          </a:xfrm>
          <a:prstGeom prst="rect">
            <a:avLst/>
          </a:prstGeom>
        </p:spPr>
      </p:pic>
      <p:sp>
        <p:nvSpPr>
          <p:cNvPr id="6" name="Text 3"/>
          <p:cNvSpPr txBox="1"/>
          <p:nvPr/>
        </p:nvSpPr>
        <p:spPr>
          <a:xfrm>
            <a:off x="1417320" y="1536192"/>
            <a:ext cx="4206240" cy="320040"/>
          </a:xfrm>
          <a:prstGeom prst="rect">
            <a:avLst/>
          </a:prstGeom>
          <a:noFill/>
          <a:ln/>
        </p:spPr>
        <p:txBody>
          <a:bodyPr wrap="square" lIns="0" tIns="0" rIns="0" bIns="0" rtlCol="0" anchor="t"/>
          <a:lstStyle/>
          <a:p>
            <a:pPr indent="0" marL="0">
              <a:buNone/>
            </a:pPr>
            <a:r>
              <a:rPr lang="en-US" sz="1600" dirty="0">
                <a:solidFill>
                  <a:schemeClr val="bg2"/>
                </a:solidFill>
              </a:rPr>
              <a:t>Traditional gateway</a:t>
            </a:r>
            <a:endParaRPr lang="en-US" sz="1600" dirty="0"/>
          </a:p>
        </p:txBody>
      </p:sp>
      <p:sp>
        <p:nvSpPr>
          <p:cNvPr id="7" name="Text 4"/>
          <p:cNvSpPr txBox="1"/>
          <p:nvPr/>
        </p:nvSpPr>
        <p:spPr>
          <a:xfrm>
            <a:off x="1417320" y="1828800"/>
            <a:ext cx="4206240" cy="457200"/>
          </a:xfrm>
          <a:prstGeom prst="rect">
            <a:avLst/>
          </a:prstGeom>
          <a:noFill/>
          <a:ln/>
        </p:spPr>
        <p:txBody>
          <a:bodyPr wrap="square" lIns="0" tIns="0" rIns="0" bIns="0" rtlCol="0" anchor="t"/>
          <a:lstStyle/>
          <a:p>
            <a:pPr indent="0" marL="0">
              <a:buNone/>
            </a:pPr>
            <a:r>
              <a:rPr lang="en-US" sz="2400" b="1" dirty="0">
                <a:solidFill>
                  <a:schemeClr val="accent2"/>
                </a:solidFill>
              </a:rPr>
              <a:t>Block and stop</a:t>
            </a:r>
            <a:endParaRPr lang="en-US" sz="2400" dirty="0"/>
          </a:p>
        </p:txBody>
      </p:sp>
      <p:sp>
        <p:nvSpPr>
          <p:cNvPr id="8" name="Shape 5"/>
          <p:cNvSpPr/>
          <p:nvPr/>
        </p:nvSpPr>
        <p:spPr>
          <a:xfrm>
            <a:off x="777240" y="2697480"/>
            <a:ext cx="1417320" cy="566928"/>
          </a:xfrm>
          <a:prstGeom prst="roundRect">
            <a:avLst>
              <a:gd name="adj" fmla="val 19355"/>
            </a:avLst>
          </a:prstGeom>
          <a:solidFill>
            <a:schemeClr val="accent4">
              <a:alpha val="18000"/>
            </a:schemeClr>
          </a:solidFill>
          <a:ln w="12700">
            <a:solidFill>
              <a:schemeClr val="accent4"/>
            </a:solidFill>
            <a:prstDash val="solid"/>
          </a:ln>
        </p:spPr>
      </p:sp>
      <p:sp>
        <p:nvSpPr>
          <p:cNvPr id="9" name="Text 6"/>
          <p:cNvSpPr txBox="1"/>
          <p:nvPr/>
        </p:nvSpPr>
        <p:spPr>
          <a:xfrm>
            <a:off x="777240" y="2697480"/>
            <a:ext cx="1417320" cy="566928"/>
          </a:xfrm>
          <a:prstGeom prst="rect">
            <a:avLst/>
          </a:prstGeom>
          <a:noFill/>
          <a:ln/>
        </p:spPr>
        <p:txBody>
          <a:bodyPr wrap="square" lIns="0" tIns="0" rIns="0" bIns="0" rtlCol="0" anchor="ctr"/>
          <a:lstStyle/>
          <a:p>
            <a:pPr algn="ctr" indent="0" marL="0">
              <a:buNone/>
            </a:pPr>
            <a:r>
              <a:rPr lang="en-US" sz="1500" b="1" dirty="0">
                <a:solidFill>
                  <a:schemeClr val="accent4"/>
                </a:solidFill>
              </a:rPr>
              <a:t>Broad request</a:t>
            </a:r>
            <a:endParaRPr lang="en-US" sz="1500" dirty="0"/>
          </a:p>
        </p:txBody>
      </p:sp>
      <p:sp>
        <p:nvSpPr>
          <p:cNvPr id="10" name="Shape 7"/>
          <p:cNvSpPr/>
          <p:nvPr/>
        </p:nvSpPr>
        <p:spPr>
          <a:xfrm>
            <a:off x="2240280" y="2980944"/>
            <a:ext cx="256032" cy="0"/>
          </a:xfrm>
          <a:prstGeom prst="line">
            <a:avLst/>
          </a:prstGeom>
          <a:noFill/>
          <a:ln w="19050">
            <a:solidFill>
              <a:schemeClr val="bg2"/>
            </a:solidFill>
            <a:prstDash val="solid"/>
            <a:tailEnd type="triangle"/>
          </a:ln>
        </p:spPr>
      </p:sp>
      <p:sp>
        <p:nvSpPr>
          <p:cNvPr id="11" name="Shape 8"/>
          <p:cNvSpPr/>
          <p:nvPr/>
        </p:nvSpPr>
        <p:spPr>
          <a:xfrm>
            <a:off x="2560320" y="2697480"/>
            <a:ext cx="1188720" cy="566928"/>
          </a:xfrm>
          <a:prstGeom prst="roundRect">
            <a:avLst>
              <a:gd name="adj" fmla="val 19355"/>
            </a:avLst>
          </a:prstGeom>
          <a:solidFill>
            <a:schemeClr val="accent2">
              <a:alpha val="18000"/>
            </a:schemeClr>
          </a:solidFill>
          <a:ln w="12700">
            <a:solidFill>
              <a:schemeClr val="accent2"/>
            </a:solidFill>
            <a:prstDash val="solid"/>
          </a:ln>
        </p:spPr>
      </p:sp>
      <p:sp>
        <p:nvSpPr>
          <p:cNvPr id="12" name="Text 9"/>
          <p:cNvSpPr txBox="1"/>
          <p:nvPr/>
        </p:nvSpPr>
        <p:spPr>
          <a:xfrm>
            <a:off x="2560320" y="2697480"/>
            <a:ext cx="1188720" cy="566928"/>
          </a:xfrm>
          <a:prstGeom prst="rect">
            <a:avLst/>
          </a:prstGeom>
          <a:noFill/>
          <a:ln/>
        </p:spPr>
        <p:txBody>
          <a:bodyPr wrap="square" lIns="0" tIns="0" rIns="0" bIns="0" rtlCol="0" anchor="ctr"/>
          <a:lstStyle/>
          <a:p>
            <a:pPr algn="ctr" indent="0" marL="0">
              <a:buNone/>
            </a:pPr>
            <a:r>
              <a:rPr lang="en-US" sz="1500" b="1" dirty="0">
                <a:solidFill>
                  <a:schemeClr val="accent2"/>
                </a:solidFill>
              </a:rPr>
              <a:t>Blocked</a:t>
            </a:r>
            <a:endParaRPr lang="en-US" sz="1500" dirty="0"/>
          </a:p>
        </p:txBody>
      </p:sp>
      <p:sp>
        <p:nvSpPr>
          <p:cNvPr id="13" name="Shape 10"/>
          <p:cNvSpPr/>
          <p:nvPr/>
        </p:nvSpPr>
        <p:spPr>
          <a:xfrm>
            <a:off x="3794760" y="2980944"/>
            <a:ext cx="256032" cy="0"/>
          </a:xfrm>
          <a:prstGeom prst="line">
            <a:avLst/>
          </a:prstGeom>
          <a:noFill/>
          <a:ln w="19050">
            <a:solidFill>
              <a:schemeClr val="bg2"/>
            </a:solidFill>
            <a:prstDash val="solid"/>
            <a:tailEnd type="triangle"/>
          </a:ln>
        </p:spPr>
      </p:sp>
      <p:sp>
        <p:nvSpPr>
          <p:cNvPr id="14" name="Shape 11"/>
          <p:cNvSpPr/>
          <p:nvPr/>
        </p:nvSpPr>
        <p:spPr>
          <a:xfrm>
            <a:off x="4114800" y="2697480"/>
            <a:ext cx="1325880" cy="566928"/>
          </a:xfrm>
          <a:prstGeom prst="roundRect">
            <a:avLst>
              <a:gd name="adj" fmla="val 19355"/>
            </a:avLst>
          </a:prstGeom>
          <a:solidFill>
            <a:schemeClr val="accent2">
              <a:alpha val="18000"/>
            </a:schemeClr>
          </a:solidFill>
          <a:ln w="12700">
            <a:solidFill>
              <a:schemeClr val="accent2"/>
            </a:solidFill>
            <a:prstDash val="solid"/>
          </a:ln>
        </p:spPr>
      </p:sp>
      <p:sp>
        <p:nvSpPr>
          <p:cNvPr id="15" name="Text 12"/>
          <p:cNvSpPr txBox="1"/>
          <p:nvPr/>
        </p:nvSpPr>
        <p:spPr>
          <a:xfrm>
            <a:off x="4114800" y="2697480"/>
            <a:ext cx="1325880" cy="566928"/>
          </a:xfrm>
          <a:prstGeom prst="rect">
            <a:avLst/>
          </a:prstGeom>
          <a:noFill/>
          <a:ln/>
        </p:spPr>
        <p:txBody>
          <a:bodyPr wrap="square" lIns="0" tIns="0" rIns="0" bIns="0" rtlCol="0" anchor="ctr"/>
          <a:lstStyle/>
          <a:p>
            <a:pPr algn="ctr" indent="0" marL="0">
              <a:buNone/>
            </a:pPr>
            <a:r>
              <a:rPr lang="en-US" sz="1500" b="1" dirty="0">
                <a:solidFill>
                  <a:schemeClr val="accent2"/>
                </a:solidFill>
              </a:rPr>
              <a:t>Task fails</a:t>
            </a:r>
            <a:endParaRPr lang="en-US" sz="1500" dirty="0"/>
          </a:p>
        </p:txBody>
      </p:sp>
      <p:sp>
        <p:nvSpPr>
          <p:cNvPr id="16" name="scopeguard card"/>
          <p:cNvSpPr/>
          <p:nvPr/>
        </p:nvSpPr>
        <p:spPr>
          <a:xfrm>
            <a:off x="6291072" y="1371600"/>
            <a:ext cx="5349240" cy="2240280"/>
          </a:xfrm>
          <a:prstGeom prst="roundRect">
            <a:avLst>
              <a:gd name="adj" fmla="val 4898"/>
            </a:avLst>
          </a:prstGeom>
          <a:solidFill>
            <a:schemeClr val="tx2"/>
          </a:solidFill>
          <a:ln w="12700">
            <a:solidFill>
              <a:srgbClr val="2DD4BF"/>
            </a:solidFill>
            <a:prstDash val="solid"/>
          </a:ln>
        </p:spPr>
      </p:sp>
      <p:sp>
        <p:nvSpPr>
          <p:cNvPr id="17" name="Shape 14"/>
          <p:cNvSpPr/>
          <p:nvPr/>
        </p:nvSpPr>
        <p:spPr>
          <a:xfrm>
            <a:off x="6519672" y="1572768"/>
            <a:ext cx="502920" cy="502920"/>
          </a:xfrm>
          <a:prstGeom prst="roundRect">
            <a:avLst>
              <a:gd name="adj" fmla="val 25455"/>
            </a:avLst>
          </a:prstGeom>
          <a:solidFill>
            <a:schemeClr val="accent1">
              <a:alpha val="18000"/>
            </a:schemeClr>
          </a:solidFill>
          <a:ln w="12700">
            <a:solidFill>
              <a:schemeClr val="accent1">
                <a:alpha val="60000"/>
              </a:schemeClr>
            </a:solidFill>
            <a:prstDash val="solid"/>
          </a:ln>
        </p:spPr>
      </p:sp>
      <p:pic>
        <p:nvPicPr>
          <p:cNvPr id="18" name="Image 1" descr="shield">    </p:cNvPr>
          <p:cNvPicPr>
            <a:picLocks noChangeAspect="1"/>
          </p:cNvPicPr>
          <p:nvPr/>
        </p:nvPicPr>
        <p:blipFill>
          <a:blip r:embed="rId2"/>
          <a:stretch>
            <a:fillRect/>
          </a:stretch>
        </p:blipFill>
        <p:spPr>
          <a:xfrm>
            <a:off x="6610198" y="1663294"/>
            <a:ext cx="321869" cy="321869"/>
          </a:xfrm>
          <a:prstGeom prst="rect">
            <a:avLst/>
          </a:prstGeom>
        </p:spPr>
      </p:pic>
      <p:sp>
        <p:nvSpPr>
          <p:cNvPr id="19" name="Text 15"/>
          <p:cNvSpPr txBox="1"/>
          <p:nvPr/>
        </p:nvSpPr>
        <p:spPr>
          <a:xfrm>
            <a:off x="7159752" y="1536192"/>
            <a:ext cx="4206240" cy="320040"/>
          </a:xfrm>
          <a:prstGeom prst="rect">
            <a:avLst/>
          </a:prstGeom>
          <a:noFill/>
          <a:ln/>
        </p:spPr>
        <p:txBody>
          <a:bodyPr wrap="square" lIns="0" tIns="0" rIns="0" bIns="0" rtlCol="0" anchor="t"/>
          <a:lstStyle/>
          <a:p>
            <a:pPr indent="0" marL="0">
              <a:buNone/>
            </a:pPr>
            <a:r>
              <a:rPr lang="en-US" sz="1600" dirty="0">
                <a:solidFill>
                  <a:schemeClr val="bg2"/>
                </a:solidFill>
              </a:rPr>
              <a:t>ScopeGuard</a:t>
            </a:r>
            <a:endParaRPr lang="en-US" sz="1600" dirty="0"/>
          </a:p>
        </p:txBody>
      </p:sp>
      <p:sp>
        <p:nvSpPr>
          <p:cNvPr id="20" name="Text 16"/>
          <p:cNvSpPr txBox="1"/>
          <p:nvPr/>
        </p:nvSpPr>
        <p:spPr>
          <a:xfrm>
            <a:off x="7159752" y="1828800"/>
            <a:ext cx="4297680" cy="457200"/>
          </a:xfrm>
          <a:prstGeom prst="rect">
            <a:avLst/>
          </a:prstGeom>
          <a:noFill/>
          <a:ln/>
        </p:spPr>
        <p:txBody>
          <a:bodyPr wrap="square" lIns="0" tIns="0" rIns="0" bIns="0" rtlCol="0" anchor="t"/>
          <a:lstStyle/>
          <a:p>
            <a:pPr indent="0" marL="0">
              <a:buNone/>
            </a:pPr>
            <a:r>
              <a:rPr lang="en-US" sz="2400" b="1" dirty="0">
                <a:solidFill>
                  <a:schemeClr val="accent1"/>
                </a:solidFill>
              </a:rPr>
              <a:t>Block, replan, complete</a:t>
            </a:r>
            <a:endParaRPr lang="en-US" sz="2400" dirty="0"/>
          </a:p>
        </p:txBody>
      </p:sp>
      <p:sp>
        <p:nvSpPr>
          <p:cNvPr id="21" name="Shape 17"/>
          <p:cNvSpPr/>
          <p:nvPr/>
        </p:nvSpPr>
        <p:spPr>
          <a:xfrm>
            <a:off x="6519672" y="2697480"/>
            <a:ext cx="1188720" cy="566928"/>
          </a:xfrm>
          <a:prstGeom prst="roundRect">
            <a:avLst>
              <a:gd name="adj" fmla="val 19355"/>
            </a:avLst>
          </a:prstGeom>
          <a:solidFill>
            <a:schemeClr val="accent4">
              <a:alpha val="18000"/>
            </a:schemeClr>
          </a:solidFill>
          <a:ln w="12700">
            <a:solidFill>
              <a:schemeClr val="accent4"/>
            </a:solidFill>
            <a:prstDash val="solid"/>
          </a:ln>
        </p:spPr>
      </p:sp>
      <p:sp>
        <p:nvSpPr>
          <p:cNvPr id="22" name="Text 18"/>
          <p:cNvSpPr txBox="1"/>
          <p:nvPr/>
        </p:nvSpPr>
        <p:spPr>
          <a:xfrm>
            <a:off x="6519672" y="2697480"/>
            <a:ext cx="1188720" cy="566928"/>
          </a:xfrm>
          <a:prstGeom prst="rect">
            <a:avLst/>
          </a:prstGeom>
          <a:noFill/>
          <a:ln/>
        </p:spPr>
        <p:txBody>
          <a:bodyPr wrap="square" lIns="0" tIns="0" rIns="0" bIns="0" rtlCol="0" anchor="ctr"/>
          <a:lstStyle/>
          <a:p>
            <a:pPr algn="ctr" indent="0" marL="0">
              <a:buNone/>
            </a:pPr>
            <a:r>
              <a:rPr lang="en-US" sz="1400" b="1" dirty="0">
                <a:solidFill>
                  <a:schemeClr val="accent4"/>
                </a:solidFill>
              </a:rPr>
              <a:t>Broad request</a:t>
            </a:r>
            <a:endParaRPr lang="en-US" sz="1400" dirty="0"/>
          </a:p>
        </p:txBody>
      </p:sp>
      <p:sp>
        <p:nvSpPr>
          <p:cNvPr id="23" name="Shape 19"/>
          <p:cNvSpPr/>
          <p:nvPr/>
        </p:nvSpPr>
        <p:spPr>
          <a:xfrm>
            <a:off x="7754112" y="2980944"/>
            <a:ext cx="182880" cy="0"/>
          </a:xfrm>
          <a:prstGeom prst="line">
            <a:avLst/>
          </a:prstGeom>
          <a:noFill/>
          <a:ln w="19050">
            <a:solidFill>
              <a:schemeClr val="bg2"/>
            </a:solidFill>
            <a:prstDash val="solid"/>
            <a:tailEnd type="triangle"/>
          </a:ln>
        </p:spPr>
      </p:sp>
      <p:sp>
        <p:nvSpPr>
          <p:cNvPr id="24" name="Shape 20"/>
          <p:cNvSpPr/>
          <p:nvPr/>
        </p:nvSpPr>
        <p:spPr>
          <a:xfrm>
            <a:off x="8001000" y="2697480"/>
            <a:ext cx="868680" cy="566928"/>
          </a:xfrm>
          <a:prstGeom prst="roundRect">
            <a:avLst>
              <a:gd name="adj" fmla="val 19355"/>
            </a:avLst>
          </a:prstGeom>
          <a:solidFill>
            <a:schemeClr val="accent2">
              <a:alpha val="18000"/>
            </a:schemeClr>
          </a:solidFill>
          <a:ln w="12700">
            <a:solidFill>
              <a:schemeClr val="accent2"/>
            </a:solidFill>
            <a:prstDash val="solid"/>
          </a:ln>
        </p:spPr>
      </p:sp>
      <p:sp>
        <p:nvSpPr>
          <p:cNvPr id="25" name="Text 21"/>
          <p:cNvSpPr txBox="1"/>
          <p:nvPr/>
        </p:nvSpPr>
        <p:spPr>
          <a:xfrm>
            <a:off x="8001000" y="2697480"/>
            <a:ext cx="868680" cy="566928"/>
          </a:xfrm>
          <a:prstGeom prst="rect">
            <a:avLst/>
          </a:prstGeom>
          <a:noFill/>
          <a:ln/>
        </p:spPr>
        <p:txBody>
          <a:bodyPr wrap="square" lIns="0" tIns="0" rIns="0" bIns="0" rtlCol="0" anchor="ctr"/>
          <a:lstStyle/>
          <a:p>
            <a:pPr algn="ctr" indent="0" marL="0">
              <a:buNone/>
            </a:pPr>
            <a:r>
              <a:rPr lang="en-US" sz="1400" b="1" dirty="0">
                <a:solidFill>
                  <a:schemeClr val="accent2"/>
                </a:solidFill>
              </a:rPr>
              <a:t>Blocked</a:t>
            </a:r>
            <a:endParaRPr lang="en-US" sz="1400" dirty="0"/>
          </a:p>
        </p:txBody>
      </p:sp>
      <p:sp>
        <p:nvSpPr>
          <p:cNvPr id="26" name="Shape 22"/>
          <p:cNvSpPr/>
          <p:nvPr/>
        </p:nvSpPr>
        <p:spPr>
          <a:xfrm>
            <a:off x="8915400" y="2980944"/>
            <a:ext cx="182880" cy="0"/>
          </a:xfrm>
          <a:prstGeom prst="line">
            <a:avLst/>
          </a:prstGeom>
          <a:noFill/>
          <a:ln w="19050">
            <a:solidFill>
              <a:schemeClr val="bg2"/>
            </a:solidFill>
            <a:prstDash val="solid"/>
            <a:tailEnd type="triangle"/>
          </a:ln>
        </p:spPr>
      </p:sp>
      <p:sp>
        <p:nvSpPr>
          <p:cNvPr id="27" name="Shape 23"/>
          <p:cNvSpPr/>
          <p:nvPr/>
        </p:nvSpPr>
        <p:spPr>
          <a:xfrm>
            <a:off x="9162288" y="2697480"/>
            <a:ext cx="1005840" cy="566928"/>
          </a:xfrm>
          <a:prstGeom prst="roundRect">
            <a:avLst>
              <a:gd name="adj" fmla="val 19355"/>
            </a:avLst>
          </a:prstGeom>
          <a:solidFill>
            <a:schemeClr val="accent3">
              <a:alpha val="18000"/>
            </a:schemeClr>
          </a:solidFill>
          <a:ln w="12700">
            <a:solidFill>
              <a:schemeClr val="accent3"/>
            </a:solidFill>
            <a:prstDash val="solid"/>
          </a:ln>
        </p:spPr>
      </p:sp>
      <p:sp>
        <p:nvSpPr>
          <p:cNvPr id="28" name="Text 24"/>
          <p:cNvSpPr txBox="1"/>
          <p:nvPr/>
        </p:nvSpPr>
        <p:spPr>
          <a:xfrm>
            <a:off x="9162288" y="2697480"/>
            <a:ext cx="1005840" cy="566928"/>
          </a:xfrm>
          <a:prstGeom prst="rect">
            <a:avLst/>
          </a:prstGeom>
          <a:noFill/>
          <a:ln/>
        </p:spPr>
        <p:txBody>
          <a:bodyPr wrap="square" lIns="0" tIns="0" rIns="0" bIns="0" rtlCol="0" anchor="ctr"/>
          <a:lstStyle/>
          <a:p>
            <a:pPr algn="ctr" indent="0" marL="0">
              <a:buNone/>
            </a:pPr>
            <a:r>
              <a:rPr lang="en-US" sz="1400" b="1" dirty="0">
                <a:solidFill>
                  <a:schemeClr val="accent3"/>
                </a:solidFill>
              </a:rPr>
              <a:t>Replanned</a:t>
            </a:r>
            <a:endParaRPr lang="en-US" sz="1400" dirty="0"/>
          </a:p>
        </p:txBody>
      </p:sp>
      <p:sp>
        <p:nvSpPr>
          <p:cNvPr id="29" name="Shape 25"/>
          <p:cNvSpPr/>
          <p:nvPr/>
        </p:nvSpPr>
        <p:spPr>
          <a:xfrm>
            <a:off x="10213848" y="2980944"/>
            <a:ext cx="182880" cy="0"/>
          </a:xfrm>
          <a:prstGeom prst="line">
            <a:avLst/>
          </a:prstGeom>
          <a:noFill/>
          <a:ln w="19050">
            <a:solidFill>
              <a:schemeClr val="bg2"/>
            </a:solidFill>
            <a:prstDash val="solid"/>
            <a:tailEnd type="triangle"/>
          </a:ln>
        </p:spPr>
      </p:sp>
      <p:sp>
        <p:nvSpPr>
          <p:cNvPr id="30" name="Shape 26"/>
          <p:cNvSpPr/>
          <p:nvPr/>
        </p:nvSpPr>
        <p:spPr>
          <a:xfrm>
            <a:off x="10460736" y="2697480"/>
            <a:ext cx="960120" cy="566928"/>
          </a:xfrm>
          <a:prstGeom prst="roundRect">
            <a:avLst>
              <a:gd name="adj" fmla="val 19355"/>
            </a:avLst>
          </a:prstGeom>
          <a:solidFill>
            <a:schemeClr val="accent1">
              <a:alpha val="18000"/>
            </a:schemeClr>
          </a:solidFill>
          <a:ln w="12700">
            <a:solidFill>
              <a:schemeClr val="accent1"/>
            </a:solidFill>
            <a:prstDash val="solid"/>
          </a:ln>
        </p:spPr>
      </p:sp>
      <p:sp>
        <p:nvSpPr>
          <p:cNvPr id="31" name="Text 27"/>
          <p:cNvSpPr txBox="1"/>
          <p:nvPr/>
        </p:nvSpPr>
        <p:spPr>
          <a:xfrm>
            <a:off x="10460736" y="2697480"/>
            <a:ext cx="960120" cy="566928"/>
          </a:xfrm>
          <a:prstGeom prst="rect">
            <a:avLst/>
          </a:prstGeom>
          <a:noFill/>
          <a:ln/>
        </p:spPr>
        <p:txBody>
          <a:bodyPr wrap="square" lIns="0" tIns="0" rIns="0" bIns="0" rtlCol="0" anchor="ctr"/>
          <a:lstStyle/>
          <a:p>
            <a:pPr algn="ctr" indent="0" marL="0">
              <a:buNone/>
            </a:pPr>
            <a:r>
              <a:rPr lang="en-US" sz="1400" b="1" dirty="0">
                <a:solidFill>
                  <a:schemeClr val="accent1"/>
                </a:solidFill>
              </a:rPr>
              <a:t>Answered</a:t>
            </a:r>
            <a:endParaRPr lang="en-US" sz="1400" dirty="0"/>
          </a:p>
        </p:txBody>
      </p:sp>
      <p:sp>
        <p:nvSpPr>
          <p:cNvPr id="32" name="layer 1"/>
          <p:cNvSpPr/>
          <p:nvPr/>
        </p:nvSpPr>
        <p:spPr>
          <a:xfrm>
            <a:off x="548640" y="3886200"/>
            <a:ext cx="3447288" cy="1691640"/>
          </a:xfrm>
          <a:prstGeom prst="roundRect">
            <a:avLst>
              <a:gd name="adj" fmla="val 6486"/>
            </a:avLst>
          </a:prstGeom>
          <a:solidFill>
            <a:schemeClr val="tx2"/>
          </a:solidFill>
          <a:ln w="12700">
            <a:solidFill>
              <a:srgbClr val="2A3A55"/>
            </a:solidFill>
            <a:prstDash val="solid"/>
          </a:ln>
        </p:spPr>
      </p:sp>
      <p:sp>
        <p:nvSpPr>
          <p:cNvPr id="33" name="Shape 29"/>
          <p:cNvSpPr/>
          <p:nvPr/>
        </p:nvSpPr>
        <p:spPr>
          <a:xfrm>
            <a:off x="749808" y="4069080"/>
            <a:ext cx="530352" cy="530352"/>
          </a:xfrm>
          <a:prstGeom prst="roundRect">
            <a:avLst>
              <a:gd name="adj" fmla="val 24138"/>
            </a:avLst>
          </a:prstGeom>
          <a:solidFill>
            <a:schemeClr val="accent4">
              <a:alpha val="18000"/>
            </a:schemeClr>
          </a:solidFill>
          <a:ln w="12700">
            <a:solidFill>
              <a:schemeClr val="accent4">
                <a:alpha val="60000"/>
              </a:schemeClr>
            </a:solidFill>
            <a:prstDash val="solid"/>
          </a:ln>
        </p:spPr>
      </p:sp>
      <p:pic>
        <p:nvPicPr>
          <p:cNvPr id="34" name="Image 2" descr="scroll">    </p:cNvPr>
          <p:cNvPicPr>
            <a:picLocks noChangeAspect="1"/>
          </p:cNvPicPr>
          <p:nvPr/>
        </p:nvPicPr>
        <p:blipFill>
          <a:blip r:embed="rId3"/>
          <a:stretch>
            <a:fillRect/>
          </a:stretch>
        </p:blipFill>
        <p:spPr>
          <a:xfrm>
            <a:off x="845271" y="4164543"/>
            <a:ext cx="339425" cy="339425"/>
          </a:xfrm>
          <a:prstGeom prst="rect">
            <a:avLst/>
          </a:prstGeom>
        </p:spPr>
      </p:pic>
      <p:sp>
        <p:nvSpPr>
          <p:cNvPr id="35" name="Text 30"/>
          <p:cNvSpPr txBox="1"/>
          <p:nvPr/>
        </p:nvSpPr>
        <p:spPr>
          <a:xfrm>
            <a:off x="1417320" y="4114800"/>
            <a:ext cx="2468880" cy="411480"/>
          </a:xfrm>
          <a:prstGeom prst="rect">
            <a:avLst/>
          </a:prstGeom>
          <a:noFill/>
          <a:ln/>
        </p:spPr>
        <p:txBody>
          <a:bodyPr wrap="square" lIns="0" tIns="0" rIns="0" bIns="0" rtlCol="0" anchor="t"/>
          <a:lstStyle/>
          <a:p>
            <a:pPr indent="0" marL="0">
              <a:buNone/>
            </a:pPr>
            <a:r>
              <a:rPr lang="en-US" sz="1800" b="1" dirty="0">
                <a:solidFill>
                  <a:schemeClr val="bg1"/>
                </a:solidFill>
              </a:rPr>
              <a:t>1. Hard policy</a:t>
            </a:r>
            <a:endParaRPr lang="en-US" sz="1800" dirty="0"/>
          </a:p>
        </p:txBody>
      </p:sp>
      <p:sp>
        <p:nvSpPr>
          <p:cNvPr id="36" name="Text 31"/>
          <p:cNvSpPr txBox="1"/>
          <p:nvPr/>
        </p:nvSpPr>
        <p:spPr>
          <a:xfrm>
            <a:off x="749808" y="4709160"/>
            <a:ext cx="3063240" cy="777240"/>
          </a:xfrm>
          <a:prstGeom prst="rect">
            <a:avLst/>
          </a:prstGeom>
          <a:noFill/>
          <a:ln/>
        </p:spPr>
        <p:txBody>
          <a:bodyPr wrap="square" lIns="0" tIns="0" rIns="0" bIns="0" rtlCol="0" anchor="t"/>
          <a:lstStyle/>
          <a:p>
            <a:pPr indent="0" marL="0">
              <a:buNone/>
            </a:pPr>
            <a:r>
              <a:rPr lang="en-US" sz="1500" dirty="0">
                <a:solidFill>
                  <a:schemeClr val="bg1"/>
                </a:solidFill>
              </a:rPr>
              <a:t>Admin-owned rules outside the LLM. Secrets are never disclosed.</a:t>
            </a:r>
            <a:endParaRPr lang="en-US" sz="1500" dirty="0"/>
          </a:p>
        </p:txBody>
      </p:sp>
      <p:sp>
        <p:nvSpPr>
          <p:cNvPr id="37" name="Shape 32"/>
          <p:cNvSpPr/>
          <p:nvPr/>
        </p:nvSpPr>
        <p:spPr>
          <a:xfrm>
            <a:off x="4023360" y="4727448"/>
            <a:ext cx="329184" cy="0"/>
          </a:xfrm>
          <a:prstGeom prst="line">
            <a:avLst/>
          </a:prstGeom>
          <a:noFill/>
          <a:ln w="19050">
            <a:solidFill>
              <a:schemeClr val="bg2"/>
            </a:solidFill>
            <a:prstDash val="solid"/>
            <a:tailEnd type="triangle"/>
          </a:ln>
        </p:spPr>
      </p:sp>
      <p:sp>
        <p:nvSpPr>
          <p:cNvPr id="38" name="layer 2"/>
          <p:cNvSpPr/>
          <p:nvPr/>
        </p:nvSpPr>
        <p:spPr>
          <a:xfrm>
            <a:off x="4370832" y="3886200"/>
            <a:ext cx="3447288" cy="1691640"/>
          </a:xfrm>
          <a:prstGeom prst="roundRect">
            <a:avLst>
              <a:gd name="adj" fmla="val 6486"/>
            </a:avLst>
          </a:prstGeom>
          <a:solidFill>
            <a:schemeClr val="tx2"/>
          </a:solidFill>
          <a:ln w="12700">
            <a:solidFill>
              <a:srgbClr val="2A3A55"/>
            </a:solidFill>
            <a:prstDash val="solid"/>
          </a:ln>
        </p:spPr>
      </p:sp>
      <p:sp>
        <p:nvSpPr>
          <p:cNvPr id="39" name="Shape 34"/>
          <p:cNvSpPr/>
          <p:nvPr/>
        </p:nvSpPr>
        <p:spPr>
          <a:xfrm>
            <a:off x="4572000" y="4069080"/>
            <a:ext cx="530352" cy="530352"/>
          </a:xfrm>
          <a:prstGeom prst="roundRect">
            <a:avLst>
              <a:gd name="adj" fmla="val 24138"/>
            </a:avLst>
          </a:prstGeom>
          <a:solidFill>
            <a:schemeClr val="accent5">
              <a:alpha val="18000"/>
            </a:schemeClr>
          </a:solidFill>
          <a:ln w="12700">
            <a:solidFill>
              <a:schemeClr val="accent5">
                <a:alpha val="60000"/>
              </a:schemeClr>
            </a:solidFill>
            <a:prstDash val="solid"/>
          </a:ln>
        </p:spPr>
      </p:sp>
      <p:pic>
        <p:nvPicPr>
          <p:cNvPr id="40" name="Image 3" descr="brain">    </p:cNvPr>
          <p:cNvPicPr>
            <a:picLocks noChangeAspect="1"/>
          </p:cNvPicPr>
          <p:nvPr/>
        </p:nvPicPr>
        <p:blipFill>
          <a:blip r:embed="rId4"/>
          <a:stretch>
            <a:fillRect/>
          </a:stretch>
        </p:blipFill>
        <p:spPr>
          <a:xfrm>
            <a:off x="4667463" y="4164543"/>
            <a:ext cx="339425" cy="339425"/>
          </a:xfrm>
          <a:prstGeom prst="rect">
            <a:avLst/>
          </a:prstGeom>
        </p:spPr>
      </p:pic>
      <p:sp>
        <p:nvSpPr>
          <p:cNvPr id="41" name="Text 35"/>
          <p:cNvSpPr txBox="1"/>
          <p:nvPr/>
        </p:nvSpPr>
        <p:spPr>
          <a:xfrm>
            <a:off x="5239512" y="4114800"/>
            <a:ext cx="2468880" cy="411480"/>
          </a:xfrm>
          <a:prstGeom prst="rect">
            <a:avLst/>
          </a:prstGeom>
          <a:noFill/>
          <a:ln/>
        </p:spPr>
        <p:txBody>
          <a:bodyPr wrap="square" lIns="0" tIns="0" rIns="0" bIns="0" rtlCol="0" anchor="t"/>
          <a:lstStyle/>
          <a:p>
            <a:pPr indent="0" marL="0">
              <a:buNone/>
            </a:pPr>
            <a:r>
              <a:rPr lang="en-US" sz="1800" b="1" dirty="0">
                <a:solidFill>
                  <a:schemeClr val="bg1"/>
                </a:solidFill>
              </a:rPr>
              <a:t>2. AI candidate planning</a:t>
            </a:r>
            <a:endParaRPr lang="en-US" sz="1800" dirty="0"/>
          </a:p>
        </p:txBody>
      </p:sp>
      <p:sp>
        <p:nvSpPr>
          <p:cNvPr id="42" name="Text 36"/>
          <p:cNvSpPr txBox="1"/>
          <p:nvPr/>
        </p:nvSpPr>
        <p:spPr>
          <a:xfrm>
            <a:off x="4572000" y="4709160"/>
            <a:ext cx="3063240" cy="777240"/>
          </a:xfrm>
          <a:prstGeom prst="rect">
            <a:avLst/>
          </a:prstGeom>
          <a:noFill/>
          <a:ln/>
        </p:spPr>
        <p:txBody>
          <a:bodyPr wrap="square" lIns="0" tIns="0" rIns="0" bIns="0" rtlCol="0" anchor="t"/>
          <a:lstStyle/>
          <a:p>
            <a:pPr indent="0" marL="0">
              <a:buNone/>
            </a:pPr>
            <a:r>
              <a:rPr lang="en-US" sz="1500" dirty="0">
                <a:solidFill>
                  <a:schemeClr val="bg1"/>
                </a:solidFill>
              </a:rPr>
              <a:t>The LLM proposes plans from an approved catalog. It never authorizes.</a:t>
            </a:r>
            <a:endParaRPr lang="en-US" sz="1500" dirty="0"/>
          </a:p>
        </p:txBody>
      </p:sp>
      <p:sp>
        <p:nvSpPr>
          <p:cNvPr id="43" name="Shape 37"/>
          <p:cNvSpPr/>
          <p:nvPr/>
        </p:nvSpPr>
        <p:spPr>
          <a:xfrm>
            <a:off x="7845552" y="4727448"/>
            <a:ext cx="329184" cy="0"/>
          </a:xfrm>
          <a:prstGeom prst="line">
            <a:avLst/>
          </a:prstGeom>
          <a:noFill/>
          <a:ln w="19050">
            <a:solidFill>
              <a:schemeClr val="bg2"/>
            </a:solidFill>
            <a:prstDash val="solid"/>
            <a:tailEnd type="triangle"/>
          </a:ln>
        </p:spPr>
      </p:sp>
      <p:sp>
        <p:nvSpPr>
          <p:cNvPr id="44" name="layer 3"/>
          <p:cNvSpPr/>
          <p:nvPr/>
        </p:nvSpPr>
        <p:spPr>
          <a:xfrm>
            <a:off x="8193024" y="3886200"/>
            <a:ext cx="3447288" cy="1691640"/>
          </a:xfrm>
          <a:prstGeom prst="roundRect">
            <a:avLst>
              <a:gd name="adj" fmla="val 6486"/>
            </a:avLst>
          </a:prstGeom>
          <a:solidFill>
            <a:schemeClr val="tx2"/>
          </a:solidFill>
          <a:ln w="12700">
            <a:solidFill>
              <a:srgbClr val="2A3A55"/>
            </a:solidFill>
            <a:prstDash val="solid"/>
          </a:ln>
        </p:spPr>
      </p:sp>
      <p:sp>
        <p:nvSpPr>
          <p:cNvPr id="45" name="Shape 39"/>
          <p:cNvSpPr/>
          <p:nvPr/>
        </p:nvSpPr>
        <p:spPr>
          <a:xfrm>
            <a:off x="8394192" y="4069080"/>
            <a:ext cx="530352" cy="530352"/>
          </a:xfrm>
          <a:prstGeom prst="roundRect">
            <a:avLst>
              <a:gd name="adj" fmla="val 24138"/>
            </a:avLst>
          </a:prstGeom>
          <a:solidFill>
            <a:schemeClr val="accent1">
              <a:alpha val="18000"/>
            </a:schemeClr>
          </a:solidFill>
          <a:ln w="12700">
            <a:solidFill>
              <a:schemeClr val="accent1">
                <a:alpha val="60000"/>
              </a:schemeClr>
            </a:solidFill>
            <a:prstDash val="solid"/>
          </a:ln>
        </p:spPr>
      </p:sp>
      <p:pic>
        <p:nvPicPr>
          <p:cNvPr id="46" name="Image 4" descr="filter">    </p:cNvPr>
          <p:cNvPicPr>
            <a:picLocks noChangeAspect="1"/>
          </p:cNvPicPr>
          <p:nvPr/>
        </p:nvPicPr>
        <p:blipFill>
          <a:blip r:embed="rId5"/>
          <a:stretch>
            <a:fillRect/>
          </a:stretch>
        </p:blipFill>
        <p:spPr>
          <a:xfrm>
            <a:off x="8489655" y="4164543"/>
            <a:ext cx="339425" cy="339425"/>
          </a:xfrm>
          <a:prstGeom prst="rect">
            <a:avLst/>
          </a:prstGeom>
        </p:spPr>
      </p:pic>
      <p:sp>
        <p:nvSpPr>
          <p:cNvPr id="47" name="Text 40"/>
          <p:cNvSpPr txBox="1"/>
          <p:nvPr/>
        </p:nvSpPr>
        <p:spPr>
          <a:xfrm>
            <a:off x="9061704" y="4114800"/>
            <a:ext cx="2468880" cy="411480"/>
          </a:xfrm>
          <a:prstGeom prst="rect">
            <a:avLst/>
          </a:prstGeom>
          <a:noFill/>
          <a:ln/>
        </p:spPr>
        <p:txBody>
          <a:bodyPr wrap="square" lIns="0" tIns="0" rIns="0" bIns="0" rtlCol="0" anchor="t"/>
          <a:lstStyle/>
          <a:p>
            <a:pPr indent="0" marL="0">
              <a:buNone/>
            </a:pPr>
            <a:r>
              <a:rPr lang="en-US" sz="1800" b="1" dirty="0">
                <a:solidFill>
                  <a:schemeClr val="bg1"/>
                </a:solidFill>
              </a:rPr>
              <a:t>3. Runtime enforcement</a:t>
            </a:r>
            <a:endParaRPr lang="en-US" sz="1800" dirty="0"/>
          </a:p>
        </p:txBody>
      </p:sp>
      <p:sp>
        <p:nvSpPr>
          <p:cNvPr id="48" name="Text 41"/>
          <p:cNvSpPr txBox="1"/>
          <p:nvPr/>
        </p:nvSpPr>
        <p:spPr>
          <a:xfrm>
            <a:off x="8394192" y="4709160"/>
            <a:ext cx="3063240" cy="777240"/>
          </a:xfrm>
          <a:prstGeom prst="rect">
            <a:avLst/>
          </a:prstGeom>
          <a:noFill/>
          <a:ln/>
        </p:spPr>
        <p:txBody>
          <a:bodyPr wrap="square" lIns="0" tIns="0" rIns="0" bIns="0" rtlCol="0" anchor="t"/>
          <a:lstStyle/>
          <a:p>
            <a:pPr indent="0" marL="0">
              <a:buNone/>
            </a:pPr>
            <a:r>
              <a:rPr lang="en-US" sz="1500" dirty="0">
                <a:solidFill>
                  <a:schemeClr val="bg1"/>
                </a:solidFill>
              </a:rPr>
              <a:t>Every MCP call and every result is checked before the model sees it.</a:t>
            </a:r>
            <a:endParaRPr lang="en-US" sz="1500" dirty="0"/>
          </a:p>
        </p:txBody>
      </p:sp>
      <p:sp>
        <p:nvSpPr>
          <p:cNvPr id="49" name="Text 42"/>
          <p:cNvSpPr txBox="1"/>
          <p:nvPr/>
        </p:nvSpPr>
        <p:spPr>
          <a:xfrm>
            <a:off x="548640" y="5760720"/>
            <a:ext cx="11091672" cy="457200"/>
          </a:xfrm>
          <a:prstGeom prst="rect">
            <a:avLst/>
          </a:prstGeom>
          <a:noFill/>
          <a:ln/>
        </p:spPr>
        <p:txBody>
          <a:bodyPr wrap="square" lIns="0" tIns="0" rIns="0" bIns="0" rtlCol="0" anchor="t"/>
          <a:lstStyle/>
          <a:p>
            <a:pPr algn="ctr" indent="0" marL="0">
              <a:buNone/>
            </a:pPr>
            <a:r>
              <a:rPr lang="en-US" sz="2000" i="1" dirty="0">
                <a:solidFill>
                  <a:schemeClr val="accent1"/>
                </a:solidFill>
              </a:rPr>
              <a:t>Security that helps the agent finish its job safely.</a:t>
            </a:r>
            <a:endParaRPr lang="en-US" sz="2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How it works: agents only ever talk to ScopeGuard</a:t>
            </a:r>
            <a:endParaRPr lang="en-US" sz="3400" dirty="0"/>
          </a:p>
        </p:txBody>
      </p:sp>
      <p:sp>
        <p:nvSpPr>
          <p:cNvPr id="3" name="user"/>
          <p:cNvSpPr/>
          <p:nvPr/>
        </p:nvSpPr>
        <p:spPr>
          <a:xfrm>
            <a:off x="548640" y="1874520"/>
            <a:ext cx="1508760" cy="1965960"/>
          </a:xfrm>
          <a:prstGeom prst="roundRect">
            <a:avLst>
              <a:gd name="adj" fmla="val 7273"/>
            </a:avLst>
          </a:prstGeom>
          <a:solidFill>
            <a:schemeClr val="tx2"/>
          </a:solidFill>
          <a:ln w="12700">
            <a:solidFill>
              <a:srgbClr val="2A3A55"/>
            </a:solidFill>
            <a:prstDash val="solid"/>
          </a:ln>
          <a:effectLst>
            <a:outerShdw sx="100000" sy="100000" kx="0" ky="0" algn="bl" rotWithShape="0" blurRad="101600" dist="38100" dir="5400000">
              <a:srgbClr val="000000">
                <a:alpha val="35000"/>
              </a:srgbClr>
            </a:outerShdw>
          </a:effectLst>
        </p:spPr>
      </p:sp>
      <p:sp>
        <p:nvSpPr>
          <p:cNvPr id="4" name="Shape 2"/>
          <p:cNvSpPr/>
          <p:nvPr/>
        </p:nvSpPr>
        <p:spPr>
          <a:xfrm>
            <a:off x="1051560" y="2039112"/>
            <a:ext cx="502920" cy="502920"/>
          </a:xfrm>
          <a:prstGeom prst="roundRect">
            <a:avLst>
              <a:gd name="adj" fmla="val 25455"/>
            </a:avLst>
          </a:prstGeom>
          <a:solidFill>
            <a:schemeClr val="accent4">
              <a:alpha val="18000"/>
            </a:schemeClr>
          </a:solidFill>
          <a:ln w="12700">
            <a:solidFill>
              <a:schemeClr val="accent4">
                <a:alpha val="60000"/>
              </a:schemeClr>
            </a:solidFill>
            <a:prstDash val="solid"/>
          </a:ln>
        </p:spPr>
      </p:sp>
      <p:pic>
        <p:nvPicPr>
          <p:cNvPr id="5" name="Image 0" descr="user">    </p:cNvPr>
          <p:cNvPicPr>
            <a:picLocks noChangeAspect="1"/>
          </p:cNvPicPr>
          <p:nvPr/>
        </p:nvPicPr>
        <p:blipFill>
          <a:blip r:embed="rId1"/>
          <a:stretch>
            <a:fillRect/>
          </a:stretch>
        </p:blipFill>
        <p:spPr>
          <a:xfrm>
            <a:off x="1142086" y="2129638"/>
            <a:ext cx="321869" cy="321869"/>
          </a:xfrm>
          <a:prstGeom prst="rect">
            <a:avLst/>
          </a:prstGeom>
        </p:spPr>
      </p:pic>
      <p:sp>
        <p:nvSpPr>
          <p:cNvPr id="6" name="Text 3"/>
          <p:cNvSpPr txBox="1"/>
          <p:nvPr/>
        </p:nvSpPr>
        <p:spPr>
          <a:xfrm>
            <a:off x="621792" y="2606040"/>
            <a:ext cx="1362456" cy="365760"/>
          </a:xfrm>
          <a:prstGeom prst="rect">
            <a:avLst/>
          </a:prstGeom>
          <a:noFill/>
          <a:ln/>
        </p:spPr>
        <p:txBody>
          <a:bodyPr wrap="square" lIns="0" tIns="0" rIns="0" bIns="0" rtlCol="0" anchor="t"/>
          <a:lstStyle/>
          <a:p>
            <a:pPr algn="ctr" indent="0" marL="0">
              <a:buNone/>
            </a:pPr>
            <a:r>
              <a:rPr lang="en-US" sz="1600" b="1" dirty="0">
                <a:solidFill>
                  <a:schemeClr val="bg1"/>
                </a:solidFill>
              </a:rPr>
              <a:t>User</a:t>
            </a:r>
            <a:endParaRPr lang="en-US" sz="1600" dirty="0"/>
          </a:p>
        </p:txBody>
      </p:sp>
      <p:sp>
        <p:nvSpPr>
          <p:cNvPr id="7" name="Text 4"/>
          <p:cNvSpPr txBox="1"/>
          <p:nvPr/>
        </p:nvSpPr>
        <p:spPr>
          <a:xfrm>
            <a:off x="640080" y="2971800"/>
            <a:ext cx="1325880" cy="777240"/>
          </a:xfrm>
          <a:prstGeom prst="rect">
            <a:avLst/>
          </a:prstGeom>
          <a:noFill/>
          <a:ln/>
        </p:spPr>
        <p:txBody>
          <a:bodyPr wrap="square" lIns="0" tIns="0" rIns="0" bIns="0" rtlCol="0" anchor="t"/>
          <a:lstStyle/>
          <a:p>
            <a:pPr algn="ctr" indent="0" marL="0">
              <a:buNone/>
            </a:pPr>
            <a:r>
              <a:rPr lang="en-US" sz="1300" dirty="0">
                <a:solidFill>
                  <a:schemeClr val="bg2"/>
                </a:solidFill>
              </a:rPr>
              <a:t>dashboard · demo persona</a:t>
            </a:r>
            <a:endParaRPr lang="en-US" sz="1300" dirty="0"/>
          </a:p>
        </p:txBody>
      </p:sp>
      <p:sp>
        <p:nvSpPr>
          <p:cNvPr id="8" name="control plane"/>
          <p:cNvSpPr/>
          <p:nvPr/>
        </p:nvSpPr>
        <p:spPr>
          <a:xfrm>
            <a:off x="2423160" y="1874520"/>
            <a:ext cx="2286000" cy="1965960"/>
          </a:xfrm>
          <a:prstGeom prst="roundRect">
            <a:avLst>
              <a:gd name="adj" fmla="val 5581"/>
            </a:avLst>
          </a:prstGeom>
          <a:solidFill>
            <a:schemeClr val="tx2"/>
          </a:solidFill>
          <a:ln w="12700">
            <a:solidFill>
              <a:srgbClr val="2A3A55"/>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3314700" y="2039112"/>
            <a:ext cx="502920" cy="502920"/>
          </a:xfrm>
          <a:prstGeom prst="roundRect">
            <a:avLst>
              <a:gd name="adj" fmla="val 25455"/>
            </a:avLst>
          </a:prstGeom>
          <a:solidFill>
            <a:schemeClr val="accent5">
              <a:alpha val="18000"/>
            </a:schemeClr>
          </a:solidFill>
          <a:ln w="12700">
            <a:solidFill>
              <a:schemeClr val="accent5">
                <a:alpha val="60000"/>
              </a:schemeClr>
            </a:solidFill>
            <a:prstDash val="solid"/>
          </a:ln>
        </p:spPr>
      </p:sp>
      <p:pic>
        <p:nvPicPr>
          <p:cNvPr id="10" name="Image 1" descr="brain">    </p:cNvPr>
          <p:cNvPicPr>
            <a:picLocks noChangeAspect="1"/>
          </p:cNvPicPr>
          <p:nvPr/>
        </p:nvPicPr>
        <p:blipFill>
          <a:blip r:embed="rId2"/>
          <a:stretch>
            <a:fillRect/>
          </a:stretch>
        </p:blipFill>
        <p:spPr>
          <a:xfrm>
            <a:off x="3405226" y="2129638"/>
            <a:ext cx="321869" cy="321869"/>
          </a:xfrm>
          <a:prstGeom prst="rect">
            <a:avLst/>
          </a:prstGeom>
        </p:spPr>
      </p:pic>
      <p:sp>
        <p:nvSpPr>
          <p:cNvPr id="11" name="Text 7"/>
          <p:cNvSpPr txBox="1"/>
          <p:nvPr/>
        </p:nvSpPr>
        <p:spPr>
          <a:xfrm>
            <a:off x="2496312" y="2606040"/>
            <a:ext cx="2139696" cy="365760"/>
          </a:xfrm>
          <a:prstGeom prst="rect">
            <a:avLst/>
          </a:prstGeom>
          <a:noFill/>
          <a:ln/>
        </p:spPr>
        <p:txBody>
          <a:bodyPr wrap="square" lIns="0" tIns="0" rIns="0" bIns="0" rtlCol="0" anchor="t"/>
          <a:lstStyle/>
          <a:p>
            <a:pPr algn="ctr" indent="0" marL="0">
              <a:buNone/>
            </a:pPr>
            <a:r>
              <a:rPr lang="en-US" sz="1600" b="1" dirty="0">
                <a:solidFill>
                  <a:schemeClr val="bg1"/>
                </a:solidFill>
              </a:rPr>
              <a:t>Control plane</a:t>
            </a:r>
            <a:endParaRPr lang="en-US" sz="1600" dirty="0"/>
          </a:p>
        </p:txBody>
      </p:sp>
      <p:sp>
        <p:nvSpPr>
          <p:cNvPr id="12" name="Text 8"/>
          <p:cNvSpPr txBox="1"/>
          <p:nvPr/>
        </p:nvSpPr>
        <p:spPr>
          <a:xfrm>
            <a:off x="2514600" y="2971800"/>
            <a:ext cx="2103120" cy="777240"/>
          </a:xfrm>
          <a:prstGeom prst="rect">
            <a:avLst/>
          </a:prstGeom>
          <a:noFill/>
          <a:ln/>
        </p:spPr>
        <p:txBody>
          <a:bodyPr wrap="square" lIns="0" tIns="0" rIns="0" bIns="0" rtlCol="0" anchor="t"/>
          <a:lstStyle/>
          <a:p>
            <a:pPr algn="ctr" indent="0" marL="0">
              <a:buNone/>
            </a:pPr>
            <a:r>
              <a:rPr lang="en-US" sz="1300" dirty="0">
                <a:solidFill>
                  <a:schemeClr val="bg2"/>
                </a:solidFill>
              </a:rPr>
              <a:t>policy engine · AI planner · evaluator</a:t>
            </a:r>
            <a:endParaRPr lang="en-US" sz="1300" dirty="0"/>
          </a:p>
        </p:txBody>
      </p:sp>
      <p:sp>
        <p:nvSpPr>
          <p:cNvPr id="13" name="agent worker"/>
          <p:cNvSpPr/>
          <p:nvPr/>
        </p:nvSpPr>
        <p:spPr>
          <a:xfrm>
            <a:off x="5074920" y="1874520"/>
            <a:ext cx="1600200" cy="1965960"/>
          </a:xfrm>
          <a:prstGeom prst="roundRect">
            <a:avLst>
              <a:gd name="adj" fmla="val 6857"/>
            </a:avLst>
          </a:prstGeom>
          <a:solidFill>
            <a:schemeClr val="tx2"/>
          </a:solidFill>
          <a:ln w="12700">
            <a:solidFill>
              <a:srgbClr val="2A3A55"/>
            </a:solidFill>
            <a:prstDash val="solid"/>
          </a:ln>
          <a:effectLst>
            <a:outerShdw sx="100000" sy="100000" kx="0" ky="0" algn="bl" rotWithShape="0" blurRad="101600" dist="38100" dir="5400000">
              <a:srgbClr val="000000">
                <a:alpha val="35000"/>
              </a:srgbClr>
            </a:outerShdw>
          </a:effectLst>
        </p:spPr>
      </p:sp>
      <p:sp>
        <p:nvSpPr>
          <p:cNvPr id="14" name="Shape 10"/>
          <p:cNvSpPr/>
          <p:nvPr/>
        </p:nvSpPr>
        <p:spPr>
          <a:xfrm>
            <a:off x="5623560" y="2039112"/>
            <a:ext cx="502920" cy="502920"/>
          </a:xfrm>
          <a:prstGeom prst="roundRect">
            <a:avLst>
              <a:gd name="adj" fmla="val 25455"/>
            </a:avLst>
          </a:prstGeom>
          <a:solidFill>
            <a:schemeClr val="accent4">
              <a:alpha val="18000"/>
            </a:schemeClr>
          </a:solidFill>
          <a:ln w="12700">
            <a:solidFill>
              <a:schemeClr val="accent4">
                <a:alpha val="60000"/>
              </a:schemeClr>
            </a:solidFill>
            <a:prstDash val="solid"/>
          </a:ln>
        </p:spPr>
      </p:sp>
      <p:pic>
        <p:nvPicPr>
          <p:cNvPr id="15" name="Image 2" descr="network">    </p:cNvPr>
          <p:cNvPicPr>
            <a:picLocks noChangeAspect="1"/>
          </p:cNvPicPr>
          <p:nvPr/>
        </p:nvPicPr>
        <p:blipFill>
          <a:blip r:embed="rId3"/>
          <a:stretch>
            <a:fillRect/>
          </a:stretch>
        </p:blipFill>
        <p:spPr>
          <a:xfrm>
            <a:off x="5714086" y="2129638"/>
            <a:ext cx="321869" cy="321869"/>
          </a:xfrm>
          <a:prstGeom prst="rect">
            <a:avLst/>
          </a:prstGeom>
        </p:spPr>
      </p:pic>
      <p:sp>
        <p:nvSpPr>
          <p:cNvPr id="16" name="Text 11"/>
          <p:cNvSpPr txBox="1"/>
          <p:nvPr/>
        </p:nvSpPr>
        <p:spPr>
          <a:xfrm>
            <a:off x="5148072" y="2606040"/>
            <a:ext cx="1453896" cy="365760"/>
          </a:xfrm>
          <a:prstGeom prst="rect">
            <a:avLst/>
          </a:prstGeom>
          <a:noFill/>
          <a:ln/>
        </p:spPr>
        <p:txBody>
          <a:bodyPr wrap="square" lIns="0" tIns="0" rIns="0" bIns="0" rtlCol="0" anchor="t"/>
          <a:lstStyle/>
          <a:p>
            <a:pPr algn="ctr" indent="0" marL="0">
              <a:buNone/>
            </a:pPr>
            <a:r>
              <a:rPr lang="en-US" sz="1600" b="1" dirty="0">
                <a:solidFill>
                  <a:schemeClr val="bg1"/>
                </a:solidFill>
              </a:rPr>
              <a:t>Agent worker</a:t>
            </a:r>
            <a:endParaRPr lang="en-US" sz="1600" dirty="0"/>
          </a:p>
        </p:txBody>
      </p:sp>
      <p:sp>
        <p:nvSpPr>
          <p:cNvPr id="17" name="Text 12"/>
          <p:cNvSpPr txBox="1"/>
          <p:nvPr/>
        </p:nvSpPr>
        <p:spPr>
          <a:xfrm>
            <a:off x="5166360" y="2971800"/>
            <a:ext cx="1417320" cy="777240"/>
          </a:xfrm>
          <a:prstGeom prst="rect">
            <a:avLst/>
          </a:prstGeom>
          <a:noFill/>
          <a:ln/>
        </p:spPr>
        <p:txBody>
          <a:bodyPr wrap="square" lIns="0" tIns="0" rIns="0" bIns="0" rtlCol="0" anchor="t"/>
          <a:lstStyle/>
          <a:p>
            <a:pPr algn="ctr" indent="0" marL="0">
              <a:buNone/>
            </a:pPr>
            <a:r>
              <a:rPr lang="en-US" sz="1300" dirty="0">
                <a:solidFill>
                  <a:schemeClr val="bg2"/>
                </a:solidFill>
              </a:rPr>
              <a:t>MCP client · no creds · one fixed URL</a:t>
            </a:r>
            <a:endParaRPr lang="en-US" sz="1300" dirty="0"/>
          </a:p>
        </p:txBody>
      </p:sp>
      <p:sp>
        <p:nvSpPr>
          <p:cNvPr id="18" name="gateway"/>
          <p:cNvSpPr/>
          <p:nvPr/>
        </p:nvSpPr>
        <p:spPr>
          <a:xfrm>
            <a:off x="7040880" y="1874520"/>
            <a:ext cx="2148840" cy="1965960"/>
          </a:xfrm>
          <a:prstGeom prst="roundRect">
            <a:avLst>
              <a:gd name="adj" fmla="val 5581"/>
            </a:avLst>
          </a:prstGeom>
          <a:solidFill>
            <a:schemeClr val="tx2"/>
          </a:solidFill>
          <a:ln w="12700">
            <a:solidFill>
              <a:srgbClr val="2DD4BF"/>
            </a:solidFill>
            <a:prstDash val="solid"/>
          </a:ln>
          <a:effectLst>
            <a:outerShdw sx="100000" sy="100000" kx="0" ky="0" algn="bl" rotWithShape="0" blurRad="101600" dist="38100" dir="5400000">
              <a:srgbClr val="000000">
                <a:alpha val="35000"/>
              </a:srgbClr>
            </a:outerShdw>
          </a:effectLst>
        </p:spPr>
      </p:sp>
      <p:sp>
        <p:nvSpPr>
          <p:cNvPr id="19" name="Shape 14"/>
          <p:cNvSpPr/>
          <p:nvPr/>
        </p:nvSpPr>
        <p:spPr>
          <a:xfrm>
            <a:off x="7863840" y="2039112"/>
            <a:ext cx="502920" cy="502920"/>
          </a:xfrm>
          <a:prstGeom prst="roundRect">
            <a:avLst>
              <a:gd name="adj" fmla="val 25455"/>
            </a:avLst>
          </a:prstGeom>
          <a:solidFill>
            <a:schemeClr val="accent1">
              <a:alpha val="18000"/>
            </a:schemeClr>
          </a:solidFill>
          <a:ln w="12700">
            <a:solidFill>
              <a:schemeClr val="accent1">
                <a:alpha val="60000"/>
              </a:schemeClr>
            </a:solidFill>
            <a:prstDash val="solid"/>
          </a:ln>
        </p:spPr>
      </p:sp>
      <p:pic>
        <p:nvPicPr>
          <p:cNvPr id="20" name="Image 3" descr="shield">    </p:cNvPr>
          <p:cNvPicPr>
            <a:picLocks noChangeAspect="1"/>
          </p:cNvPicPr>
          <p:nvPr/>
        </p:nvPicPr>
        <p:blipFill>
          <a:blip r:embed="rId4"/>
          <a:stretch>
            <a:fillRect/>
          </a:stretch>
        </p:blipFill>
        <p:spPr>
          <a:xfrm>
            <a:off x="7954366" y="2129638"/>
            <a:ext cx="321869" cy="321869"/>
          </a:xfrm>
          <a:prstGeom prst="rect">
            <a:avLst/>
          </a:prstGeom>
        </p:spPr>
      </p:pic>
      <p:sp>
        <p:nvSpPr>
          <p:cNvPr id="21" name="Text 15"/>
          <p:cNvSpPr txBox="1"/>
          <p:nvPr/>
        </p:nvSpPr>
        <p:spPr>
          <a:xfrm>
            <a:off x="7114032" y="2606040"/>
            <a:ext cx="2002536" cy="365760"/>
          </a:xfrm>
          <a:prstGeom prst="rect">
            <a:avLst/>
          </a:prstGeom>
          <a:noFill/>
          <a:ln/>
        </p:spPr>
        <p:txBody>
          <a:bodyPr wrap="square" lIns="0" tIns="0" rIns="0" bIns="0" rtlCol="0" anchor="t"/>
          <a:lstStyle/>
          <a:p>
            <a:pPr algn="ctr" indent="0" marL="0">
              <a:buNone/>
            </a:pPr>
            <a:r>
              <a:rPr lang="en-US" sz="1600" b="1" dirty="0">
                <a:solidFill>
                  <a:schemeClr val="bg1"/>
                </a:solidFill>
              </a:rPr>
              <a:t>ScopeGuard gateway</a:t>
            </a:r>
            <a:endParaRPr lang="en-US" sz="1600" dirty="0"/>
          </a:p>
        </p:txBody>
      </p:sp>
      <p:sp>
        <p:nvSpPr>
          <p:cNvPr id="22" name="Text 16"/>
          <p:cNvSpPr txBox="1"/>
          <p:nvPr/>
        </p:nvSpPr>
        <p:spPr>
          <a:xfrm>
            <a:off x="7132320" y="2971800"/>
            <a:ext cx="1965960" cy="777240"/>
          </a:xfrm>
          <a:prstGeom prst="rect">
            <a:avLst/>
          </a:prstGeom>
          <a:noFill/>
          <a:ln/>
        </p:spPr>
        <p:txBody>
          <a:bodyPr wrap="square" lIns="0" tIns="0" rIns="0" bIns="0" rtlCol="0" anchor="t"/>
          <a:lstStyle/>
          <a:p>
            <a:pPr algn="ctr" indent="0" marL="0">
              <a:buNone/>
            </a:pPr>
            <a:r>
              <a:rPr lang="en-US" sz="1300" dirty="0">
                <a:solidFill>
                  <a:schemeClr val="bg2"/>
                </a:solidFill>
              </a:rPr>
              <a:t>MCP server · grant · policy · output filter</a:t>
            </a:r>
            <a:endParaRPr lang="en-US" sz="1300" dirty="0"/>
          </a:p>
        </p:txBody>
      </p:sp>
      <p:sp>
        <p:nvSpPr>
          <p:cNvPr id="23" name="analytics"/>
          <p:cNvSpPr/>
          <p:nvPr/>
        </p:nvSpPr>
        <p:spPr>
          <a:xfrm>
            <a:off x="9829800" y="1325880"/>
            <a:ext cx="1810512" cy="1417320"/>
          </a:xfrm>
          <a:prstGeom prst="roundRect">
            <a:avLst>
              <a:gd name="adj" fmla="val 7742"/>
            </a:avLst>
          </a:prstGeom>
          <a:solidFill>
            <a:schemeClr val="tx2"/>
          </a:solidFill>
          <a:ln w="12700">
            <a:solidFill>
              <a:srgbClr val="2A3A55"/>
            </a:solidFill>
            <a:prstDash val="solid"/>
          </a:ln>
          <a:effectLst>
            <a:outerShdw sx="100000" sy="100000" kx="0" ky="0" algn="bl" rotWithShape="0" blurRad="101600" dist="38100" dir="5400000">
              <a:srgbClr val="000000">
                <a:alpha val="35000"/>
              </a:srgbClr>
            </a:outerShdw>
          </a:effectLst>
        </p:spPr>
      </p:sp>
      <p:sp>
        <p:nvSpPr>
          <p:cNvPr id="24" name="Shape 18"/>
          <p:cNvSpPr/>
          <p:nvPr/>
        </p:nvSpPr>
        <p:spPr>
          <a:xfrm>
            <a:off x="10483596" y="1490472"/>
            <a:ext cx="502920" cy="502920"/>
          </a:xfrm>
          <a:prstGeom prst="roundRect">
            <a:avLst>
              <a:gd name="adj" fmla="val 25455"/>
            </a:avLst>
          </a:prstGeom>
          <a:solidFill>
            <a:schemeClr val="accent4">
              <a:alpha val="18000"/>
            </a:schemeClr>
          </a:solidFill>
          <a:ln w="12700">
            <a:solidFill>
              <a:schemeClr val="accent4">
                <a:alpha val="60000"/>
              </a:schemeClr>
            </a:solidFill>
            <a:prstDash val="solid"/>
          </a:ln>
        </p:spPr>
      </p:sp>
      <p:pic>
        <p:nvPicPr>
          <p:cNvPr id="25" name="Image 4" descr="chart">    </p:cNvPr>
          <p:cNvPicPr>
            <a:picLocks noChangeAspect="1"/>
          </p:cNvPicPr>
          <p:nvPr/>
        </p:nvPicPr>
        <p:blipFill>
          <a:blip r:embed="rId5"/>
          <a:stretch>
            <a:fillRect/>
          </a:stretch>
        </p:blipFill>
        <p:spPr>
          <a:xfrm>
            <a:off x="10574122" y="1580998"/>
            <a:ext cx="321869" cy="321869"/>
          </a:xfrm>
          <a:prstGeom prst="rect">
            <a:avLst/>
          </a:prstGeom>
        </p:spPr>
      </p:pic>
      <p:sp>
        <p:nvSpPr>
          <p:cNvPr id="26" name="Text 19"/>
          <p:cNvSpPr txBox="1"/>
          <p:nvPr/>
        </p:nvSpPr>
        <p:spPr>
          <a:xfrm>
            <a:off x="9902952" y="2057400"/>
            <a:ext cx="1664208" cy="365760"/>
          </a:xfrm>
          <a:prstGeom prst="rect">
            <a:avLst/>
          </a:prstGeom>
          <a:noFill/>
          <a:ln/>
        </p:spPr>
        <p:txBody>
          <a:bodyPr wrap="square" lIns="0" tIns="0" rIns="0" bIns="0" rtlCol="0" anchor="t"/>
          <a:lstStyle/>
          <a:p>
            <a:pPr algn="ctr" indent="0" marL="0">
              <a:buNone/>
            </a:pPr>
            <a:r>
              <a:rPr lang="en-US" sz="1600" b="1" dirty="0">
                <a:solidFill>
                  <a:schemeClr val="bg1"/>
                </a:solidFill>
              </a:rPr>
              <a:t>Private Analytics</a:t>
            </a:r>
            <a:endParaRPr lang="en-US" sz="1600" dirty="0"/>
          </a:p>
        </p:txBody>
      </p:sp>
      <p:sp>
        <p:nvSpPr>
          <p:cNvPr id="27" name="Text 20"/>
          <p:cNvSpPr txBox="1"/>
          <p:nvPr/>
        </p:nvSpPr>
        <p:spPr>
          <a:xfrm>
            <a:off x="9921240" y="2423160"/>
            <a:ext cx="1627632" cy="228600"/>
          </a:xfrm>
          <a:prstGeom prst="rect">
            <a:avLst/>
          </a:prstGeom>
          <a:noFill/>
          <a:ln/>
        </p:spPr>
        <p:txBody>
          <a:bodyPr wrap="square" lIns="0" tIns="0" rIns="0" bIns="0" rtlCol="0" anchor="t"/>
          <a:lstStyle/>
          <a:p>
            <a:pPr algn="ctr" indent="0" marL="0">
              <a:buNone/>
            </a:pPr>
            <a:endParaRPr lang="en-US" sz="1300" dirty="0"/>
          </a:p>
        </p:txBody>
      </p:sp>
      <p:sp>
        <p:nvSpPr>
          <p:cNvPr id="28" name="crm"/>
          <p:cNvSpPr/>
          <p:nvPr/>
        </p:nvSpPr>
        <p:spPr>
          <a:xfrm>
            <a:off x="9829800" y="2971800"/>
            <a:ext cx="1810512" cy="1417320"/>
          </a:xfrm>
          <a:prstGeom prst="roundRect">
            <a:avLst>
              <a:gd name="adj" fmla="val 7742"/>
            </a:avLst>
          </a:prstGeom>
          <a:solidFill>
            <a:schemeClr val="tx2"/>
          </a:solidFill>
          <a:ln w="12700">
            <a:solidFill>
              <a:srgbClr val="2A3A55"/>
            </a:solidFill>
            <a:prstDash val="solid"/>
          </a:ln>
          <a:effectLst>
            <a:outerShdw sx="100000" sy="100000" kx="0" ky="0" algn="bl" rotWithShape="0" blurRad="101600" dist="38100" dir="5400000">
              <a:srgbClr val="000000">
                <a:alpha val="35000"/>
              </a:srgbClr>
            </a:outerShdw>
          </a:effectLst>
        </p:spPr>
      </p:sp>
      <p:sp>
        <p:nvSpPr>
          <p:cNvPr id="29" name="Shape 22"/>
          <p:cNvSpPr/>
          <p:nvPr/>
        </p:nvSpPr>
        <p:spPr>
          <a:xfrm>
            <a:off x="10483596" y="3136392"/>
            <a:ext cx="502920" cy="502920"/>
          </a:xfrm>
          <a:prstGeom prst="roundRect">
            <a:avLst>
              <a:gd name="adj" fmla="val 25455"/>
            </a:avLst>
          </a:prstGeom>
          <a:solidFill>
            <a:schemeClr val="accent4">
              <a:alpha val="18000"/>
            </a:schemeClr>
          </a:solidFill>
          <a:ln w="12700">
            <a:solidFill>
              <a:schemeClr val="accent4">
                <a:alpha val="60000"/>
              </a:schemeClr>
            </a:solidFill>
            <a:prstDash val="solid"/>
          </a:ln>
        </p:spPr>
      </p:sp>
      <p:pic>
        <p:nvPicPr>
          <p:cNvPr id="30" name="Image 5" descr="database">    </p:cNvPr>
          <p:cNvPicPr>
            <a:picLocks noChangeAspect="1"/>
          </p:cNvPicPr>
          <p:nvPr/>
        </p:nvPicPr>
        <p:blipFill>
          <a:blip r:embed="rId6"/>
          <a:stretch>
            <a:fillRect/>
          </a:stretch>
        </p:blipFill>
        <p:spPr>
          <a:xfrm>
            <a:off x="10574122" y="3226918"/>
            <a:ext cx="321869" cy="321869"/>
          </a:xfrm>
          <a:prstGeom prst="rect">
            <a:avLst/>
          </a:prstGeom>
        </p:spPr>
      </p:pic>
      <p:sp>
        <p:nvSpPr>
          <p:cNvPr id="31" name="Text 23"/>
          <p:cNvSpPr txBox="1"/>
          <p:nvPr/>
        </p:nvSpPr>
        <p:spPr>
          <a:xfrm>
            <a:off x="9902952" y="3703320"/>
            <a:ext cx="1664208" cy="365760"/>
          </a:xfrm>
          <a:prstGeom prst="rect">
            <a:avLst/>
          </a:prstGeom>
          <a:noFill/>
          <a:ln/>
        </p:spPr>
        <p:txBody>
          <a:bodyPr wrap="square" lIns="0" tIns="0" rIns="0" bIns="0" rtlCol="0" anchor="t"/>
          <a:lstStyle/>
          <a:p>
            <a:pPr algn="ctr" indent="0" marL="0">
              <a:buNone/>
            </a:pPr>
            <a:r>
              <a:rPr lang="en-US" sz="1600" b="1" dirty="0">
                <a:solidFill>
                  <a:schemeClr val="bg1"/>
                </a:solidFill>
              </a:rPr>
              <a:t>Private CRM</a:t>
            </a:r>
            <a:endParaRPr lang="en-US" sz="1600" dirty="0"/>
          </a:p>
        </p:txBody>
      </p:sp>
      <p:sp>
        <p:nvSpPr>
          <p:cNvPr id="32" name="Text 24"/>
          <p:cNvSpPr txBox="1"/>
          <p:nvPr/>
        </p:nvSpPr>
        <p:spPr>
          <a:xfrm>
            <a:off x="9921240" y="4069080"/>
            <a:ext cx="1627632" cy="228600"/>
          </a:xfrm>
          <a:prstGeom prst="rect">
            <a:avLst/>
          </a:prstGeom>
          <a:noFill/>
          <a:ln/>
        </p:spPr>
        <p:txBody>
          <a:bodyPr wrap="square" lIns="0" tIns="0" rIns="0" bIns="0" rtlCol="0" anchor="t"/>
          <a:lstStyle/>
          <a:p>
            <a:pPr algn="ctr" indent="0" marL="0">
              <a:buNone/>
            </a:pPr>
            <a:endParaRPr lang="en-US" sz="1300" dirty="0"/>
          </a:p>
        </p:txBody>
      </p:sp>
      <p:sp>
        <p:nvSpPr>
          <p:cNvPr id="33" name="Shape 25"/>
          <p:cNvSpPr/>
          <p:nvPr/>
        </p:nvSpPr>
        <p:spPr>
          <a:xfrm>
            <a:off x="2075688" y="2852928"/>
            <a:ext cx="329184" cy="0"/>
          </a:xfrm>
          <a:prstGeom prst="line">
            <a:avLst/>
          </a:prstGeom>
          <a:noFill/>
          <a:ln w="25400">
            <a:solidFill>
              <a:schemeClr val="bg2"/>
            </a:solidFill>
            <a:prstDash val="solid"/>
            <a:tailEnd type="triangle"/>
          </a:ln>
        </p:spPr>
      </p:sp>
      <p:sp>
        <p:nvSpPr>
          <p:cNvPr id="34" name="Shape 26"/>
          <p:cNvSpPr/>
          <p:nvPr/>
        </p:nvSpPr>
        <p:spPr>
          <a:xfrm>
            <a:off x="4727448" y="2852928"/>
            <a:ext cx="329184" cy="0"/>
          </a:xfrm>
          <a:prstGeom prst="line">
            <a:avLst/>
          </a:prstGeom>
          <a:noFill/>
          <a:ln w="25400">
            <a:solidFill>
              <a:schemeClr val="bg2"/>
            </a:solidFill>
            <a:prstDash val="solid"/>
            <a:tailEnd type="triangle"/>
          </a:ln>
        </p:spPr>
      </p:sp>
      <p:sp>
        <p:nvSpPr>
          <p:cNvPr id="35" name="Shape 27"/>
          <p:cNvSpPr/>
          <p:nvPr/>
        </p:nvSpPr>
        <p:spPr>
          <a:xfrm>
            <a:off x="6693408" y="2852928"/>
            <a:ext cx="329184" cy="0"/>
          </a:xfrm>
          <a:prstGeom prst="line">
            <a:avLst/>
          </a:prstGeom>
          <a:noFill/>
          <a:ln w="25400">
            <a:solidFill>
              <a:schemeClr val="accent4"/>
            </a:solidFill>
            <a:prstDash val="solid"/>
            <a:tailEnd type="triangle"/>
          </a:ln>
        </p:spPr>
      </p:sp>
      <p:sp>
        <p:nvSpPr>
          <p:cNvPr id="36" name="Shape 28"/>
          <p:cNvSpPr/>
          <p:nvPr/>
        </p:nvSpPr>
        <p:spPr>
          <a:xfrm flipV="1">
            <a:off x="9208008" y="2468880"/>
            <a:ext cx="603504" cy="411480"/>
          </a:xfrm>
          <a:prstGeom prst="line">
            <a:avLst/>
          </a:prstGeom>
          <a:noFill/>
          <a:ln w="25400">
            <a:solidFill>
              <a:schemeClr val="accent1"/>
            </a:solidFill>
            <a:prstDash val="solid"/>
            <a:tailEnd type="triangle"/>
          </a:ln>
        </p:spPr>
      </p:sp>
      <p:sp>
        <p:nvSpPr>
          <p:cNvPr id="37" name="Shape 29"/>
          <p:cNvSpPr/>
          <p:nvPr/>
        </p:nvSpPr>
        <p:spPr>
          <a:xfrm>
            <a:off x="9208008" y="3154680"/>
            <a:ext cx="603504" cy="457200"/>
          </a:xfrm>
          <a:prstGeom prst="line">
            <a:avLst/>
          </a:prstGeom>
          <a:noFill/>
          <a:ln w="25400">
            <a:solidFill>
              <a:schemeClr val="accent1"/>
            </a:solidFill>
            <a:prstDash val="solid"/>
            <a:tailEnd type="triangle"/>
          </a:ln>
        </p:spPr>
      </p:sp>
      <p:sp>
        <p:nvSpPr>
          <p:cNvPr id="38" name="Shape 30"/>
          <p:cNvSpPr/>
          <p:nvPr/>
        </p:nvSpPr>
        <p:spPr>
          <a:xfrm>
            <a:off x="7040880" y="3977640"/>
            <a:ext cx="2148840" cy="329184"/>
          </a:xfrm>
          <a:prstGeom prst="roundRect">
            <a:avLst>
              <a:gd name="adj" fmla="val 50000"/>
            </a:avLst>
          </a:prstGeom>
          <a:solidFill>
            <a:schemeClr val="accent1">
              <a:alpha val="20000"/>
            </a:schemeClr>
          </a:solidFill>
          <a:ln w="12700">
            <a:solidFill>
              <a:schemeClr val="accent1"/>
            </a:solidFill>
            <a:prstDash val="solid"/>
          </a:ln>
        </p:spPr>
      </p:sp>
      <p:sp>
        <p:nvSpPr>
          <p:cNvPr id="39" name="Text 31"/>
          <p:cNvSpPr txBox="1"/>
          <p:nvPr/>
        </p:nvSpPr>
        <p:spPr>
          <a:xfrm>
            <a:off x="7040880" y="3977640"/>
            <a:ext cx="2148840" cy="329184"/>
          </a:xfrm>
          <a:prstGeom prst="rect">
            <a:avLst/>
          </a:prstGeom>
          <a:noFill/>
          <a:ln/>
        </p:spPr>
        <p:txBody>
          <a:bodyPr wrap="square" lIns="0" tIns="0" rIns="0" bIns="0" rtlCol="0" anchor="ctr"/>
          <a:lstStyle/>
          <a:p>
            <a:pPr algn="ctr" indent="0" marL="0">
              <a:buNone/>
            </a:pPr>
            <a:r>
              <a:rPr lang="en-US" sz="1200" b="1" dirty="0">
                <a:solidFill>
                  <a:schemeClr val="accent1"/>
                </a:solidFill>
              </a:rPr>
              <a:t>ALLOW → aggregate only</a:t>
            </a:r>
            <a:endParaRPr lang="en-US" sz="1200" dirty="0"/>
          </a:p>
        </p:txBody>
      </p:sp>
      <p:sp>
        <p:nvSpPr>
          <p:cNvPr id="40" name="Shape 32"/>
          <p:cNvSpPr/>
          <p:nvPr/>
        </p:nvSpPr>
        <p:spPr>
          <a:xfrm>
            <a:off x="7040880" y="4389120"/>
            <a:ext cx="2148840" cy="329184"/>
          </a:xfrm>
          <a:prstGeom prst="roundRect">
            <a:avLst>
              <a:gd name="adj" fmla="val 50000"/>
            </a:avLst>
          </a:prstGeom>
          <a:solidFill>
            <a:schemeClr val="accent2">
              <a:alpha val="20000"/>
            </a:schemeClr>
          </a:solidFill>
          <a:ln w="12700">
            <a:solidFill>
              <a:schemeClr val="accent2"/>
            </a:solidFill>
            <a:prstDash val="solid"/>
          </a:ln>
        </p:spPr>
      </p:sp>
      <p:sp>
        <p:nvSpPr>
          <p:cNvPr id="41" name="Text 33"/>
          <p:cNvSpPr txBox="1"/>
          <p:nvPr/>
        </p:nvSpPr>
        <p:spPr>
          <a:xfrm>
            <a:off x="7040880" y="4389120"/>
            <a:ext cx="2148840" cy="329184"/>
          </a:xfrm>
          <a:prstGeom prst="rect">
            <a:avLst/>
          </a:prstGeom>
          <a:noFill/>
          <a:ln/>
        </p:spPr>
        <p:txBody>
          <a:bodyPr wrap="square" lIns="0" tIns="0" rIns="0" bIns="0" rtlCol="0" anchor="ctr"/>
          <a:lstStyle/>
          <a:p>
            <a:pPr algn="ctr" indent="0" marL="0">
              <a:buNone/>
            </a:pPr>
            <a:r>
              <a:rPr lang="en-US" sz="1200" b="1" dirty="0">
                <a:solidFill>
                  <a:schemeClr val="accent2"/>
                </a:solidFill>
              </a:rPr>
              <a:t>DENY → no upstream call</a:t>
            </a:r>
            <a:endParaRPr lang="en-US" sz="1200" dirty="0"/>
          </a:p>
        </p:txBody>
      </p:sp>
      <p:sp>
        <p:nvSpPr>
          <p:cNvPr id="42" name="vault"/>
          <p:cNvSpPr/>
          <p:nvPr/>
        </p:nvSpPr>
        <p:spPr>
          <a:xfrm>
            <a:off x="9829800" y="4709160"/>
            <a:ext cx="1810512" cy="1143000"/>
          </a:xfrm>
          <a:prstGeom prst="roundRect">
            <a:avLst>
              <a:gd name="adj" fmla="val 9600"/>
            </a:avLst>
          </a:prstGeom>
          <a:solidFill>
            <a:schemeClr val="tx2"/>
          </a:solidFill>
          <a:ln w="12700">
            <a:solidFill>
              <a:srgbClr val="FBBF24"/>
            </a:solidFill>
            <a:prstDash val="solid"/>
          </a:ln>
        </p:spPr>
      </p:sp>
      <p:sp>
        <p:nvSpPr>
          <p:cNvPr id="43" name="Shape 35"/>
          <p:cNvSpPr/>
          <p:nvPr/>
        </p:nvSpPr>
        <p:spPr>
          <a:xfrm>
            <a:off x="9966960" y="4873752"/>
            <a:ext cx="457200" cy="457200"/>
          </a:xfrm>
          <a:prstGeom prst="roundRect">
            <a:avLst>
              <a:gd name="adj" fmla="val 28000"/>
            </a:avLst>
          </a:prstGeom>
          <a:solidFill>
            <a:schemeClr val="accent3">
              <a:alpha val="18000"/>
            </a:schemeClr>
          </a:solidFill>
          <a:ln w="12700">
            <a:solidFill>
              <a:schemeClr val="accent3">
                <a:alpha val="60000"/>
              </a:schemeClr>
            </a:solidFill>
            <a:prstDash val="solid"/>
          </a:ln>
        </p:spPr>
      </p:sp>
      <p:pic>
        <p:nvPicPr>
          <p:cNvPr id="44" name="Image 6" descr="key">    </p:cNvPr>
          <p:cNvPicPr>
            <a:picLocks noChangeAspect="1"/>
          </p:cNvPicPr>
          <p:nvPr/>
        </p:nvPicPr>
        <p:blipFill>
          <a:blip r:embed="rId7"/>
          <a:stretch>
            <a:fillRect/>
          </a:stretch>
        </p:blipFill>
        <p:spPr>
          <a:xfrm>
            <a:off x="10049256" y="4956048"/>
            <a:ext cx="292608" cy="292608"/>
          </a:xfrm>
          <a:prstGeom prst="rect">
            <a:avLst/>
          </a:prstGeom>
        </p:spPr>
      </p:pic>
      <p:sp>
        <p:nvSpPr>
          <p:cNvPr id="45" name="Text 36"/>
          <p:cNvSpPr txBox="1"/>
          <p:nvPr/>
        </p:nvSpPr>
        <p:spPr>
          <a:xfrm>
            <a:off x="10469880" y="4828032"/>
            <a:ext cx="1097280" cy="548640"/>
          </a:xfrm>
          <a:prstGeom prst="rect">
            <a:avLst/>
          </a:prstGeom>
          <a:noFill/>
          <a:ln/>
        </p:spPr>
        <p:txBody>
          <a:bodyPr wrap="square" lIns="0" tIns="0" rIns="0" bIns="0" rtlCol="0" anchor="t"/>
          <a:lstStyle/>
          <a:p>
            <a:pPr indent="0" marL="0">
              <a:buNone/>
            </a:pPr>
            <a:r>
              <a:rPr lang="en-US" sz="1200" b="1" dirty="0">
                <a:solidFill>
                  <a:schemeClr val="accent3"/>
                </a:solidFill>
              </a:rPr>
              <a:t>Backend-only credential</a:t>
            </a:r>
            <a:endParaRPr lang="en-US" sz="1200" dirty="0"/>
          </a:p>
        </p:txBody>
      </p:sp>
      <p:sp>
        <p:nvSpPr>
          <p:cNvPr id="46" name="Text 37"/>
          <p:cNvSpPr txBox="1"/>
          <p:nvPr/>
        </p:nvSpPr>
        <p:spPr>
          <a:xfrm>
            <a:off x="9966960" y="5413248"/>
            <a:ext cx="1600200" cy="320040"/>
          </a:xfrm>
          <a:prstGeom prst="rect">
            <a:avLst/>
          </a:prstGeom>
          <a:noFill/>
          <a:ln/>
        </p:spPr>
        <p:txBody>
          <a:bodyPr wrap="square" lIns="0" tIns="0" rIns="0" bIns="0" rtlCol="0" anchor="t"/>
          <a:lstStyle/>
          <a:p>
            <a:pPr indent="0" marL="0">
              <a:buNone/>
            </a:pPr>
            <a:r>
              <a:rPr lang="en-US" sz="1200" dirty="0">
                <a:solidFill>
                  <a:schemeClr val="bg2"/>
                </a:solidFill>
              </a:rPr>
              <a:t>used, never returned</a:t>
            </a:r>
            <a:endParaRPr lang="en-US" sz="1200" dirty="0"/>
          </a:p>
        </p:txBody>
      </p:sp>
      <p:sp>
        <p:nvSpPr>
          <p:cNvPr id="47" name="key to CRM"/>
          <p:cNvSpPr/>
          <p:nvPr/>
        </p:nvSpPr>
        <p:spPr>
          <a:xfrm flipV="1">
            <a:off x="10735056" y="4416552"/>
            <a:ext cx="0" cy="274320"/>
          </a:xfrm>
          <a:prstGeom prst="line">
            <a:avLst/>
          </a:prstGeom>
          <a:noFill/>
          <a:ln w="25400">
            <a:solidFill>
              <a:schemeClr val="accent3"/>
            </a:solidFill>
            <a:prstDash val="solid"/>
            <a:tailEnd type="triangle"/>
          </a:ln>
        </p:spPr>
      </p:sp>
      <p:sp>
        <p:nvSpPr>
          <p:cNvPr id="48" name="model"/>
          <p:cNvSpPr/>
          <p:nvPr/>
        </p:nvSpPr>
        <p:spPr>
          <a:xfrm>
            <a:off x="2423160" y="4709160"/>
            <a:ext cx="4251960" cy="1143000"/>
          </a:xfrm>
          <a:prstGeom prst="roundRect">
            <a:avLst>
              <a:gd name="adj" fmla="val 9600"/>
            </a:avLst>
          </a:prstGeom>
          <a:solidFill>
            <a:schemeClr val="tx2"/>
          </a:solidFill>
          <a:ln w="12700">
            <a:solidFill>
              <a:srgbClr val="2DD4BF"/>
            </a:solidFill>
            <a:prstDash val="solid"/>
          </a:ln>
        </p:spPr>
      </p:sp>
      <p:sp>
        <p:nvSpPr>
          <p:cNvPr id="49" name="Shape 40"/>
          <p:cNvSpPr/>
          <p:nvPr/>
        </p:nvSpPr>
        <p:spPr>
          <a:xfrm>
            <a:off x="2606040" y="4919472"/>
            <a:ext cx="502920" cy="502920"/>
          </a:xfrm>
          <a:prstGeom prst="roundRect">
            <a:avLst>
              <a:gd name="adj" fmla="val 25455"/>
            </a:avLst>
          </a:prstGeom>
          <a:solidFill>
            <a:schemeClr val="accent1">
              <a:alpha val="18000"/>
            </a:schemeClr>
          </a:solidFill>
          <a:ln w="12700">
            <a:solidFill>
              <a:schemeClr val="accent1">
                <a:alpha val="60000"/>
              </a:schemeClr>
            </a:solidFill>
            <a:prstDash val="solid"/>
          </a:ln>
        </p:spPr>
      </p:sp>
      <p:pic>
        <p:nvPicPr>
          <p:cNvPr id="50" name="Image 7" descr="sparkles">    </p:cNvPr>
          <p:cNvPicPr>
            <a:picLocks noChangeAspect="1"/>
          </p:cNvPicPr>
          <p:nvPr/>
        </p:nvPicPr>
        <p:blipFill>
          <a:blip r:embed="rId8"/>
          <a:stretch>
            <a:fillRect/>
          </a:stretch>
        </p:blipFill>
        <p:spPr>
          <a:xfrm>
            <a:off x="2696566" y="5009998"/>
            <a:ext cx="321869" cy="321869"/>
          </a:xfrm>
          <a:prstGeom prst="rect">
            <a:avLst/>
          </a:prstGeom>
        </p:spPr>
      </p:pic>
      <p:sp>
        <p:nvSpPr>
          <p:cNvPr id="51" name="Text 41"/>
          <p:cNvSpPr txBox="1"/>
          <p:nvPr/>
        </p:nvSpPr>
        <p:spPr>
          <a:xfrm>
            <a:off x="3246120" y="4846320"/>
            <a:ext cx="3337560" cy="365760"/>
          </a:xfrm>
          <a:prstGeom prst="rect">
            <a:avLst/>
          </a:prstGeom>
          <a:noFill/>
          <a:ln/>
        </p:spPr>
        <p:txBody>
          <a:bodyPr wrap="square" lIns="0" tIns="0" rIns="0" bIns="0" rtlCol="0" anchor="t"/>
          <a:lstStyle/>
          <a:p>
            <a:pPr indent="0" marL="0">
              <a:buNone/>
            </a:pPr>
            <a:r>
              <a:rPr lang="en-US" sz="1600" b="1" dirty="0">
                <a:solidFill>
                  <a:schemeClr val="bg1"/>
                </a:solidFill>
              </a:rPr>
              <a:t>LLM sees only the sanitized result</a:t>
            </a:r>
            <a:endParaRPr lang="en-US" sz="1600" dirty="0"/>
          </a:p>
        </p:txBody>
      </p:sp>
      <p:sp>
        <p:nvSpPr>
          <p:cNvPr id="52" name="Text 42"/>
          <p:cNvSpPr txBox="1"/>
          <p:nvPr/>
        </p:nvSpPr>
        <p:spPr>
          <a:xfrm>
            <a:off x="3246120" y="5230368"/>
            <a:ext cx="3337560" cy="411480"/>
          </a:xfrm>
          <a:prstGeom prst="rect">
            <a:avLst/>
          </a:prstGeom>
          <a:noFill/>
          <a:ln/>
        </p:spPr>
        <p:txBody>
          <a:bodyPr wrap="square" lIns="0" tIns="0" rIns="0" bIns="0" rtlCol="0" anchor="t"/>
          <a:lstStyle/>
          <a:p>
            <a:pPr indent="0" marL="0">
              <a:buNone/>
            </a:pPr>
            <a:r>
              <a:rPr lang="en-US" sz="1300" dirty="0">
                <a:solidFill>
                  <a:schemeClr val="bg2"/>
                </a:solidFill>
                <a:latin typeface="Consolas" pitchFamily="34" charset="0"/>
                <a:ea typeface="Consolas" pitchFamily="34" charset="-122"/>
                <a:cs typeface="Consolas" pitchFamily="34" charset="-120"/>
              </a:rPr>
              <a:t>e.g. 4 aggregate rows, or {"connected": true}</a:t>
            </a:r>
            <a:endParaRPr lang="en-US" sz="1300" dirty="0"/>
          </a:p>
        </p:txBody>
      </p:sp>
      <p:sp>
        <p:nvSpPr>
          <p:cNvPr id="53" name="Shape 43"/>
          <p:cNvSpPr/>
          <p:nvPr/>
        </p:nvSpPr>
        <p:spPr>
          <a:xfrm>
            <a:off x="3566160" y="3858768"/>
            <a:ext cx="0" cy="822960"/>
          </a:xfrm>
          <a:prstGeom prst="line">
            <a:avLst/>
          </a:prstGeom>
          <a:noFill/>
          <a:ln w="25400">
            <a:solidFill>
              <a:schemeClr val="accent1"/>
            </a:solidFill>
            <a:prstDash val="solid"/>
            <a:tailEnd type="triangle"/>
          </a:ln>
        </p:spPr>
      </p:sp>
      <p:sp>
        <p:nvSpPr>
          <p:cNvPr id="54" name="Text 44"/>
          <p:cNvSpPr txBox="1"/>
          <p:nvPr/>
        </p:nvSpPr>
        <p:spPr>
          <a:xfrm>
            <a:off x="548640" y="5989320"/>
            <a:ext cx="11091672" cy="320040"/>
          </a:xfrm>
          <a:prstGeom prst="rect">
            <a:avLst/>
          </a:prstGeom>
          <a:noFill/>
          <a:ln/>
        </p:spPr>
        <p:txBody>
          <a:bodyPr wrap="square" lIns="0" tIns="0" rIns="0" bIns="0" rtlCol="0" anchor="t"/>
          <a:lstStyle/>
          <a:p>
            <a:pPr indent="0" marL="0">
              <a:buNone/>
            </a:pPr>
            <a:r>
              <a:rPr lang="en-US" sz="1400" dirty="0">
                <a:solidFill>
                  <a:schemeClr val="bg2"/>
                </a:solidFill>
              </a:rPr>
              <a:t>Worker → gateway: MCP Streamable HTTP  ·  gateway → private servers: MCP stdio  ·  registered tools only</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Three candidate plans, one safe choice</a:t>
            </a:r>
            <a:endParaRPr lang="en-US" sz="3400" dirty="0"/>
          </a:p>
        </p:txBody>
      </p:sp>
      <p:sp>
        <p:nvSpPr>
          <p:cNvPr id="3" name="Text 1"/>
          <p:cNvSpPr txBox="1"/>
          <p:nvPr/>
        </p:nvSpPr>
        <p:spPr>
          <a:xfrm>
            <a:off x="777240" y="1325880"/>
            <a:ext cx="548640" cy="320040"/>
          </a:xfrm>
          <a:prstGeom prst="rect">
            <a:avLst/>
          </a:prstGeom>
          <a:noFill/>
          <a:ln/>
        </p:spPr>
        <p:txBody>
          <a:bodyPr wrap="square" lIns="0" tIns="0" rIns="0" bIns="0" rtlCol="0" anchor="t"/>
          <a:lstStyle/>
          <a:p>
            <a:pPr indent="0" marL="0">
              <a:buNone/>
            </a:pPr>
            <a:r>
              <a:rPr lang="en-US" sz="1400" b="1" dirty="0">
                <a:solidFill>
                  <a:schemeClr val="bg2"/>
                </a:solidFill>
              </a:rPr>
              <a:t>Plan</a:t>
            </a:r>
            <a:endParaRPr lang="en-US" sz="1400" dirty="0"/>
          </a:p>
        </p:txBody>
      </p:sp>
      <p:sp>
        <p:nvSpPr>
          <p:cNvPr id="4" name="Text 2"/>
          <p:cNvSpPr txBox="1"/>
          <p:nvPr/>
        </p:nvSpPr>
        <p:spPr>
          <a:xfrm>
            <a:off x="1371600" y="1325880"/>
            <a:ext cx="3063240" cy="320040"/>
          </a:xfrm>
          <a:prstGeom prst="rect">
            <a:avLst/>
          </a:prstGeom>
          <a:noFill/>
          <a:ln/>
        </p:spPr>
        <p:txBody>
          <a:bodyPr wrap="square" lIns="0" tIns="0" rIns="0" bIns="0" rtlCol="0" anchor="t"/>
          <a:lstStyle/>
          <a:p>
            <a:pPr indent="0" marL="0">
              <a:buNone/>
            </a:pPr>
            <a:r>
              <a:rPr lang="en-US" sz="1400" b="1" dirty="0">
                <a:solidFill>
                  <a:schemeClr val="bg2"/>
                </a:solidFill>
              </a:rPr>
              <a:t>Tool call</a:t>
            </a:r>
            <a:endParaRPr lang="en-US" sz="1400" dirty="0"/>
          </a:p>
        </p:txBody>
      </p:sp>
      <p:sp>
        <p:nvSpPr>
          <p:cNvPr id="5" name="Text 3"/>
          <p:cNvSpPr txBox="1"/>
          <p:nvPr/>
        </p:nvSpPr>
        <p:spPr>
          <a:xfrm>
            <a:off x="4526280" y="1325880"/>
            <a:ext cx="3566160" cy="320040"/>
          </a:xfrm>
          <a:prstGeom prst="rect">
            <a:avLst/>
          </a:prstGeom>
          <a:noFill/>
          <a:ln/>
        </p:spPr>
        <p:txBody>
          <a:bodyPr wrap="square" lIns="0" tIns="0" rIns="0" bIns="0" rtlCol="0" anchor="t"/>
          <a:lstStyle/>
          <a:p>
            <a:pPr indent="0" marL="0">
              <a:buNone/>
            </a:pPr>
            <a:r>
              <a:rPr lang="en-US" sz="1400" b="1" dirty="0">
                <a:solidFill>
                  <a:schemeClr val="bg2"/>
                </a:solidFill>
              </a:rPr>
              <a:t>Data requested</a:t>
            </a:r>
            <a:endParaRPr lang="en-US" sz="1400" dirty="0"/>
          </a:p>
        </p:txBody>
      </p:sp>
      <p:sp>
        <p:nvSpPr>
          <p:cNvPr id="6" name="Text 4"/>
          <p:cNvSpPr txBox="1"/>
          <p:nvPr/>
        </p:nvSpPr>
        <p:spPr>
          <a:xfrm>
            <a:off x="8229600" y="1325880"/>
            <a:ext cx="1005840" cy="320040"/>
          </a:xfrm>
          <a:prstGeom prst="rect">
            <a:avLst/>
          </a:prstGeom>
          <a:noFill/>
          <a:ln/>
        </p:spPr>
        <p:txBody>
          <a:bodyPr wrap="square" lIns="0" tIns="0" rIns="0" bIns="0" rtlCol="0" anchor="t"/>
          <a:lstStyle/>
          <a:p>
            <a:pPr indent="0" marL="0">
              <a:buNone/>
            </a:pPr>
            <a:r>
              <a:rPr lang="en-US" sz="1400" b="1" dirty="0">
                <a:solidFill>
                  <a:schemeClr val="bg2"/>
                </a:solidFill>
              </a:rPr>
              <a:t>Rows (est.)</a:t>
            </a:r>
            <a:endParaRPr lang="en-US" sz="1400" dirty="0"/>
          </a:p>
        </p:txBody>
      </p:sp>
      <p:sp>
        <p:nvSpPr>
          <p:cNvPr id="7" name="Text 5"/>
          <p:cNvSpPr txBox="1"/>
          <p:nvPr/>
        </p:nvSpPr>
        <p:spPr>
          <a:xfrm>
            <a:off x="9189720" y="1325880"/>
            <a:ext cx="1051560" cy="320040"/>
          </a:xfrm>
          <a:prstGeom prst="rect">
            <a:avLst/>
          </a:prstGeom>
          <a:noFill/>
          <a:ln/>
        </p:spPr>
        <p:txBody>
          <a:bodyPr wrap="square" lIns="0" tIns="0" rIns="0" bIns="0" rtlCol="0" anchor="t"/>
          <a:lstStyle/>
          <a:p>
            <a:pPr indent="0" marL="0">
              <a:buNone/>
            </a:pPr>
            <a:r>
              <a:rPr lang="en-US" sz="1400" b="1" dirty="0">
                <a:solidFill>
                  <a:schemeClr val="bg2"/>
                </a:solidFill>
              </a:rPr>
              <a:t>Personal</a:t>
            </a:r>
            <a:endParaRPr lang="en-US" sz="1400" dirty="0"/>
          </a:p>
        </p:txBody>
      </p:sp>
      <p:sp>
        <p:nvSpPr>
          <p:cNvPr id="8" name="Text 6"/>
          <p:cNvSpPr txBox="1"/>
          <p:nvPr/>
        </p:nvSpPr>
        <p:spPr>
          <a:xfrm>
            <a:off x="10241280" y="1325880"/>
            <a:ext cx="1280160" cy="320040"/>
          </a:xfrm>
          <a:prstGeom prst="rect">
            <a:avLst/>
          </a:prstGeom>
          <a:noFill/>
          <a:ln/>
        </p:spPr>
        <p:txBody>
          <a:bodyPr wrap="square" lIns="0" tIns="0" rIns="0" bIns="0" rtlCol="0" anchor="t"/>
          <a:lstStyle/>
          <a:p>
            <a:pPr indent="0" marL="0">
              <a:buNone/>
            </a:pPr>
            <a:r>
              <a:rPr lang="en-US" sz="1400" b="1" dirty="0">
                <a:solidFill>
                  <a:schemeClr val="bg2"/>
                </a:solidFill>
              </a:rPr>
              <a:t>Decision</a:t>
            </a:r>
            <a:endParaRPr lang="en-US" sz="1400" dirty="0"/>
          </a:p>
        </p:txBody>
      </p:sp>
      <p:sp>
        <p:nvSpPr>
          <p:cNvPr id="9" name="plan A"/>
          <p:cNvSpPr/>
          <p:nvPr/>
        </p:nvSpPr>
        <p:spPr>
          <a:xfrm>
            <a:off x="548640" y="1737360"/>
            <a:ext cx="11091672" cy="896112"/>
          </a:xfrm>
          <a:prstGeom prst="roundRect">
            <a:avLst>
              <a:gd name="adj" fmla="val 12245"/>
            </a:avLst>
          </a:prstGeom>
          <a:solidFill>
            <a:schemeClr val="tx2"/>
          </a:solidFill>
          <a:ln w="12700">
            <a:solidFill>
              <a:srgbClr val="FB7185"/>
            </a:solidFill>
            <a:prstDash val="solid"/>
          </a:ln>
        </p:spPr>
      </p:sp>
      <p:sp>
        <p:nvSpPr>
          <p:cNvPr id="10" name="Text 8"/>
          <p:cNvSpPr txBox="1"/>
          <p:nvPr/>
        </p:nvSpPr>
        <p:spPr>
          <a:xfrm>
            <a:off x="777240" y="1737360"/>
            <a:ext cx="548640" cy="896112"/>
          </a:xfrm>
          <a:prstGeom prst="rect">
            <a:avLst/>
          </a:prstGeom>
          <a:noFill/>
          <a:ln/>
        </p:spPr>
        <p:txBody>
          <a:bodyPr wrap="square" lIns="0" tIns="0" rIns="0" bIns="0" rtlCol="0" anchor="ctr"/>
          <a:lstStyle/>
          <a:p>
            <a:pPr indent="0" marL="0">
              <a:buNone/>
            </a:pPr>
            <a:r>
              <a:rPr lang="en-US" sz="2600" b="1" dirty="0">
                <a:solidFill>
                  <a:schemeClr val="accent2"/>
                </a:solidFill>
              </a:rPr>
              <a:t>A</a:t>
            </a:r>
            <a:endParaRPr lang="en-US" sz="2600" dirty="0"/>
          </a:p>
        </p:txBody>
      </p:sp>
      <p:sp>
        <p:nvSpPr>
          <p:cNvPr id="11" name="Text 9"/>
          <p:cNvSpPr txBox="1"/>
          <p:nvPr/>
        </p:nvSpPr>
        <p:spPr>
          <a:xfrm>
            <a:off x="1371600" y="1737360"/>
            <a:ext cx="3108960" cy="896112"/>
          </a:xfrm>
          <a:prstGeom prst="rect">
            <a:avLst/>
          </a:prstGeom>
          <a:noFill/>
          <a:ln/>
        </p:spPr>
        <p:txBody>
          <a:bodyPr wrap="square" lIns="0" tIns="0" rIns="0" bIns="0" rtlCol="0" anchor="ctr"/>
          <a:lstStyle/>
          <a:p>
            <a:pPr indent="0" marL="0">
              <a:buNone/>
            </a:pPr>
            <a:r>
              <a:rPr lang="en-US" sz="1500" dirty="0">
                <a:solidFill>
                  <a:schemeClr val="accent4"/>
                </a:solidFill>
                <a:latin typeface="Consolas" pitchFamily="34" charset="0"/>
                <a:ea typeface="Consolas" pitchFamily="34" charset="-122"/>
                <a:cs typeface="Consolas" pitchFamily="34" charset="-120"/>
              </a:rPr>
              <a:t>crm.get_customers</a:t>
            </a:r>
            <a:endParaRPr lang="en-US" sz="1500" dirty="0"/>
          </a:p>
        </p:txBody>
      </p:sp>
      <p:sp>
        <p:nvSpPr>
          <p:cNvPr id="12" name="Shape 10"/>
          <p:cNvSpPr/>
          <p:nvPr/>
        </p:nvSpPr>
        <p:spPr>
          <a:xfrm>
            <a:off x="4526280" y="2020824"/>
            <a:ext cx="766267" cy="329184"/>
          </a:xfrm>
          <a:prstGeom prst="roundRect">
            <a:avLst>
              <a:gd name="adj" fmla="val 50000"/>
            </a:avLst>
          </a:prstGeom>
          <a:solidFill>
            <a:schemeClr val="accent4">
              <a:alpha val="18000"/>
            </a:schemeClr>
          </a:solidFill>
          <a:ln w="9525">
            <a:solidFill>
              <a:schemeClr val="accent4"/>
            </a:solidFill>
            <a:prstDash val="solid"/>
          </a:ln>
        </p:spPr>
      </p:sp>
      <p:sp>
        <p:nvSpPr>
          <p:cNvPr id="13" name="Text 11"/>
          <p:cNvSpPr txBox="1"/>
          <p:nvPr/>
        </p:nvSpPr>
        <p:spPr>
          <a:xfrm>
            <a:off x="4526280" y="2020824"/>
            <a:ext cx="766267" cy="329184"/>
          </a:xfrm>
          <a:prstGeom prst="rect">
            <a:avLst/>
          </a:prstGeom>
          <a:noFill/>
          <a:ln/>
        </p:spPr>
        <p:txBody>
          <a:bodyPr wrap="square" lIns="0" tIns="0" rIns="0" bIns="0" rtlCol="0" anchor="ctr"/>
          <a:lstStyle/>
          <a:p>
            <a:pPr algn="ctr" indent="0" marL="0">
              <a:buNone/>
            </a:pPr>
            <a:r>
              <a:rPr lang="en-US" sz="1200" dirty="0">
                <a:solidFill>
                  <a:schemeClr val="accent4"/>
                </a:solidFill>
                <a:latin typeface="Consolas" pitchFamily="34" charset="0"/>
                <a:ea typeface="Consolas" pitchFamily="34" charset="-122"/>
                <a:cs typeface="Consolas" pitchFamily="34" charset="-120"/>
              </a:rPr>
              <a:t>region</a:t>
            </a:r>
            <a:endParaRPr lang="en-US" sz="1200" dirty="0"/>
          </a:p>
        </p:txBody>
      </p:sp>
      <p:sp>
        <p:nvSpPr>
          <p:cNvPr id="14" name="Shape 12"/>
          <p:cNvSpPr/>
          <p:nvPr/>
        </p:nvSpPr>
        <p:spPr>
          <a:xfrm>
            <a:off x="5347411" y="2020824"/>
            <a:ext cx="681228" cy="329184"/>
          </a:xfrm>
          <a:prstGeom prst="roundRect">
            <a:avLst>
              <a:gd name="adj" fmla="val 50000"/>
            </a:avLst>
          </a:prstGeom>
          <a:solidFill>
            <a:schemeClr val="accent2">
              <a:alpha val="18000"/>
            </a:schemeClr>
          </a:solidFill>
          <a:ln w="9525">
            <a:solidFill>
              <a:schemeClr val="accent2"/>
            </a:solidFill>
            <a:prstDash val="solid"/>
          </a:ln>
        </p:spPr>
      </p:sp>
      <p:sp>
        <p:nvSpPr>
          <p:cNvPr id="15" name="Text 13"/>
          <p:cNvSpPr txBox="1"/>
          <p:nvPr/>
        </p:nvSpPr>
        <p:spPr>
          <a:xfrm>
            <a:off x="5347411" y="2020824"/>
            <a:ext cx="681228" cy="329184"/>
          </a:xfrm>
          <a:prstGeom prst="rect">
            <a:avLst/>
          </a:prstGeom>
          <a:noFill/>
          <a:ln/>
        </p:spPr>
        <p:txBody>
          <a:bodyPr wrap="square" lIns="0" tIns="0" rIns="0" bIns="0" rtlCol="0" anchor="ctr"/>
          <a:lstStyle/>
          <a:p>
            <a:pPr algn="ctr" indent="0" marL="0">
              <a:buNone/>
            </a:pPr>
            <a:r>
              <a:rPr lang="en-US" sz="1200" dirty="0">
                <a:solidFill>
                  <a:schemeClr val="accent2"/>
                </a:solidFill>
                <a:latin typeface="Consolas" pitchFamily="34" charset="0"/>
                <a:ea typeface="Consolas" pitchFamily="34" charset="-122"/>
                <a:cs typeface="Consolas" pitchFamily="34" charset="-120"/>
              </a:rPr>
              <a:t>email</a:t>
            </a:r>
            <a:endParaRPr lang="en-US" sz="1200" dirty="0"/>
          </a:p>
        </p:txBody>
      </p:sp>
      <p:sp>
        <p:nvSpPr>
          <p:cNvPr id="16" name="Shape 14"/>
          <p:cNvSpPr/>
          <p:nvPr/>
        </p:nvSpPr>
        <p:spPr>
          <a:xfrm>
            <a:off x="6083503" y="2020824"/>
            <a:ext cx="1191463" cy="329184"/>
          </a:xfrm>
          <a:prstGeom prst="roundRect">
            <a:avLst>
              <a:gd name="adj" fmla="val 50000"/>
            </a:avLst>
          </a:prstGeom>
          <a:solidFill>
            <a:schemeClr val="accent2">
              <a:alpha val="18000"/>
            </a:schemeClr>
          </a:solidFill>
          <a:ln w="9525">
            <a:solidFill>
              <a:schemeClr val="accent2"/>
            </a:solidFill>
            <a:prstDash val="solid"/>
          </a:ln>
        </p:spPr>
      </p:sp>
      <p:sp>
        <p:nvSpPr>
          <p:cNvPr id="17" name="Text 15"/>
          <p:cNvSpPr txBox="1"/>
          <p:nvPr/>
        </p:nvSpPr>
        <p:spPr>
          <a:xfrm>
            <a:off x="6083503" y="2020824"/>
            <a:ext cx="1191463" cy="329184"/>
          </a:xfrm>
          <a:prstGeom prst="rect">
            <a:avLst/>
          </a:prstGeom>
          <a:noFill/>
          <a:ln/>
        </p:spPr>
        <p:txBody>
          <a:bodyPr wrap="square" lIns="0" tIns="0" rIns="0" bIns="0" rtlCol="0" anchor="ctr"/>
          <a:lstStyle/>
          <a:p>
            <a:pPr algn="ctr" indent="0" marL="0">
              <a:buNone/>
            </a:pPr>
            <a:r>
              <a:rPr lang="en-US" sz="1200" dirty="0">
                <a:solidFill>
                  <a:schemeClr val="accent2"/>
                </a:solidFill>
                <a:latin typeface="Consolas" pitchFamily="34" charset="0"/>
                <a:ea typeface="Consolas" pitchFamily="34" charset="-122"/>
                <a:cs typeface="Consolas" pitchFamily="34" charset="-120"/>
              </a:rPr>
              <a:t>personal_id</a:t>
            </a:r>
            <a:endParaRPr lang="en-US" sz="1200" dirty="0"/>
          </a:p>
        </p:txBody>
      </p:sp>
      <p:sp>
        <p:nvSpPr>
          <p:cNvPr id="18" name="Shape 16"/>
          <p:cNvSpPr/>
          <p:nvPr/>
        </p:nvSpPr>
        <p:spPr>
          <a:xfrm>
            <a:off x="7329830" y="2020824"/>
            <a:ext cx="681228" cy="329184"/>
          </a:xfrm>
          <a:prstGeom prst="roundRect">
            <a:avLst>
              <a:gd name="adj" fmla="val 50000"/>
            </a:avLst>
          </a:prstGeom>
          <a:solidFill>
            <a:schemeClr val="accent3">
              <a:alpha val="18000"/>
            </a:schemeClr>
          </a:solidFill>
          <a:ln w="9525">
            <a:solidFill>
              <a:schemeClr val="accent3"/>
            </a:solidFill>
            <a:prstDash val="solid"/>
          </a:ln>
        </p:spPr>
      </p:sp>
      <p:sp>
        <p:nvSpPr>
          <p:cNvPr id="19" name="Text 17"/>
          <p:cNvSpPr txBox="1"/>
          <p:nvPr/>
        </p:nvSpPr>
        <p:spPr>
          <a:xfrm>
            <a:off x="7329830" y="2020824"/>
            <a:ext cx="681228" cy="329184"/>
          </a:xfrm>
          <a:prstGeom prst="rect">
            <a:avLst/>
          </a:prstGeom>
          <a:noFill/>
          <a:ln/>
        </p:spPr>
        <p:txBody>
          <a:bodyPr wrap="square" lIns="0" tIns="0" rIns="0" bIns="0" rtlCol="0" anchor="ctr"/>
          <a:lstStyle/>
          <a:p>
            <a:pPr algn="ctr" indent="0" marL="0">
              <a:buNone/>
            </a:pPr>
            <a:r>
              <a:rPr lang="en-US" sz="1200" dirty="0">
                <a:solidFill>
                  <a:schemeClr val="accent3"/>
                </a:solidFill>
                <a:latin typeface="Consolas" pitchFamily="34" charset="0"/>
                <a:ea typeface="Consolas" pitchFamily="34" charset="-122"/>
                <a:cs typeface="Consolas" pitchFamily="34" charset="-120"/>
              </a:rPr>
              <a:t>spend</a:t>
            </a:r>
            <a:endParaRPr lang="en-US" sz="1200" dirty="0"/>
          </a:p>
        </p:txBody>
      </p:sp>
      <p:sp>
        <p:nvSpPr>
          <p:cNvPr id="20" name="Text 18"/>
          <p:cNvSpPr txBox="1"/>
          <p:nvPr/>
        </p:nvSpPr>
        <p:spPr>
          <a:xfrm>
            <a:off x="8229600" y="1737360"/>
            <a:ext cx="960120" cy="896112"/>
          </a:xfrm>
          <a:prstGeom prst="rect">
            <a:avLst/>
          </a:prstGeom>
          <a:noFill/>
          <a:ln/>
        </p:spPr>
        <p:txBody>
          <a:bodyPr wrap="square" lIns="0" tIns="0" rIns="0" bIns="0" rtlCol="0" anchor="ctr"/>
          <a:lstStyle/>
          <a:p>
            <a:pPr indent="0" marL="0">
              <a:buNone/>
            </a:pPr>
            <a:r>
              <a:rPr lang="en-US" sz="2000" b="1" dirty="0">
                <a:solidFill>
                  <a:schemeClr val="bg1"/>
                </a:solidFill>
              </a:rPr>
              <a:t>5,000</a:t>
            </a:r>
            <a:endParaRPr lang="en-US" sz="2000" dirty="0"/>
          </a:p>
        </p:txBody>
      </p:sp>
      <p:sp>
        <p:nvSpPr>
          <p:cNvPr id="21" name="Text 19"/>
          <p:cNvSpPr txBox="1"/>
          <p:nvPr/>
        </p:nvSpPr>
        <p:spPr>
          <a:xfrm>
            <a:off x="9189720" y="1737360"/>
            <a:ext cx="1005840" cy="896112"/>
          </a:xfrm>
          <a:prstGeom prst="rect">
            <a:avLst/>
          </a:prstGeom>
          <a:noFill/>
          <a:ln/>
        </p:spPr>
        <p:txBody>
          <a:bodyPr wrap="square" lIns="0" tIns="0" rIns="0" bIns="0" rtlCol="0" anchor="ctr"/>
          <a:lstStyle/>
          <a:p>
            <a:pPr indent="0" marL="0">
              <a:buNone/>
            </a:pPr>
            <a:r>
              <a:rPr lang="en-US" sz="2000" b="1" dirty="0">
                <a:solidFill>
                  <a:schemeClr val="accent2"/>
                </a:solidFill>
              </a:rPr>
              <a:t>10,000</a:t>
            </a:r>
            <a:endParaRPr lang="en-US" sz="2000" dirty="0"/>
          </a:p>
        </p:txBody>
      </p:sp>
      <p:sp>
        <p:nvSpPr>
          <p:cNvPr id="22" name="Shape 20"/>
          <p:cNvSpPr/>
          <p:nvPr/>
        </p:nvSpPr>
        <p:spPr>
          <a:xfrm>
            <a:off x="10168128" y="1883664"/>
            <a:ext cx="1353312" cy="329184"/>
          </a:xfrm>
          <a:prstGeom prst="roundRect">
            <a:avLst>
              <a:gd name="adj" fmla="val 50000"/>
            </a:avLst>
          </a:prstGeom>
          <a:solidFill>
            <a:schemeClr val="accent2">
              <a:alpha val="20000"/>
            </a:schemeClr>
          </a:solidFill>
          <a:ln w="12700">
            <a:solidFill>
              <a:schemeClr val="accent2"/>
            </a:solidFill>
            <a:prstDash val="solid"/>
          </a:ln>
        </p:spPr>
      </p:sp>
      <p:sp>
        <p:nvSpPr>
          <p:cNvPr id="23" name="Text 21"/>
          <p:cNvSpPr txBox="1"/>
          <p:nvPr/>
        </p:nvSpPr>
        <p:spPr>
          <a:xfrm>
            <a:off x="10168128" y="1883664"/>
            <a:ext cx="1353312" cy="329184"/>
          </a:xfrm>
          <a:prstGeom prst="rect">
            <a:avLst/>
          </a:prstGeom>
          <a:noFill/>
          <a:ln/>
        </p:spPr>
        <p:txBody>
          <a:bodyPr wrap="square" lIns="0" tIns="0" rIns="0" bIns="0" rtlCol="0" anchor="ctr"/>
          <a:lstStyle/>
          <a:p>
            <a:pPr algn="ctr" indent="0" marL="0">
              <a:buNone/>
            </a:pPr>
            <a:r>
              <a:rPr lang="en-US" sz="1100" b="1" dirty="0">
                <a:solidFill>
                  <a:schemeClr val="accent2"/>
                </a:solidFill>
              </a:rPr>
              <a:t>DENY</a:t>
            </a:r>
            <a:endParaRPr lang="en-US" sz="1100" dirty="0"/>
          </a:p>
        </p:txBody>
      </p:sp>
      <p:sp>
        <p:nvSpPr>
          <p:cNvPr id="24" name="Text 22"/>
          <p:cNvSpPr txBox="1"/>
          <p:nvPr/>
        </p:nvSpPr>
        <p:spPr>
          <a:xfrm>
            <a:off x="10076688" y="2249424"/>
            <a:ext cx="1536192" cy="274320"/>
          </a:xfrm>
          <a:prstGeom prst="rect">
            <a:avLst/>
          </a:prstGeom>
          <a:noFill/>
          <a:ln/>
        </p:spPr>
        <p:txBody>
          <a:bodyPr wrap="square" lIns="0" tIns="0" rIns="0" bIns="0" rtlCol="0" anchor="t"/>
          <a:lstStyle/>
          <a:p>
            <a:pPr algn="ctr" indent="0" marL="0">
              <a:buNone/>
            </a:pPr>
            <a:r>
              <a:rPr lang="en-US" sz="1200" dirty="0">
                <a:solidFill>
                  <a:schemeClr val="bg2"/>
                </a:solidFill>
              </a:rPr>
              <a:t>not executed</a:t>
            </a:r>
            <a:endParaRPr lang="en-US" sz="1200" dirty="0"/>
          </a:p>
        </p:txBody>
      </p:sp>
      <p:sp>
        <p:nvSpPr>
          <p:cNvPr id="25" name="plan B"/>
          <p:cNvSpPr/>
          <p:nvPr/>
        </p:nvSpPr>
        <p:spPr>
          <a:xfrm>
            <a:off x="548640" y="2761488"/>
            <a:ext cx="11091672" cy="896112"/>
          </a:xfrm>
          <a:prstGeom prst="roundRect">
            <a:avLst>
              <a:gd name="adj" fmla="val 12245"/>
            </a:avLst>
          </a:prstGeom>
          <a:solidFill>
            <a:schemeClr val="tx2"/>
          </a:solidFill>
          <a:ln w="12700">
            <a:solidFill>
              <a:srgbClr val="FBBF24"/>
            </a:solidFill>
            <a:prstDash val="solid"/>
          </a:ln>
        </p:spPr>
      </p:sp>
      <p:sp>
        <p:nvSpPr>
          <p:cNvPr id="26" name="Text 24"/>
          <p:cNvSpPr txBox="1"/>
          <p:nvPr/>
        </p:nvSpPr>
        <p:spPr>
          <a:xfrm>
            <a:off x="777240" y="2761488"/>
            <a:ext cx="548640" cy="896112"/>
          </a:xfrm>
          <a:prstGeom prst="rect">
            <a:avLst/>
          </a:prstGeom>
          <a:noFill/>
          <a:ln/>
        </p:spPr>
        <p:txBody>
          <a:bodyPr wrap="square" lIns="0" tIns="0" rIns="0" bIns="0" rtlCol="0" anchor="ctr"/>
          <a:lstStyle/>
          <a:p>
            <a:pPr indent="0" marL="0">
              <a:buNone/>
            </a:pPr>
            <a:r>
              <a:rPr lang="en-US" sz="2600" b="1" dirty="0">
                <a:solidFill>
                  <a:schemeClr val="accent3"/>
                </a:solidFill>
              </a:rPr>
              <a:t>B</a:t>
            </a:r>
            <a:endParaRPr lang="en-US" sz="2600" dirty="0"/>
          </a:p>
        </p:txBody>
      </p:sp>
      <p:sp>
        <p:nvSpPr>
          <p:cNvPr id="27" name="Text 25"/>
          <p:cNvSpPr txBox="1"/>
          <p:nvPr/>
        </p:nvSpPr>
        <p:spPr>
          <a:xfrm>
            <a:off x="1371600" y="2761488"/>
            <a:ext cx="3108960" cy="896112"/>
          </a:xfrm>
          <a:prstGeom prst="rect">
            <a:avLst/>
          </a:prstGeom>
          <a:noFill/>
          <a:ln/>
        </p:spPr>
        <p:txBody>
          <a:bodyPr wrap="square" lIns="0" tIns="0" rIns="0" bIns="0" rtlCol="0" anchor="ctr"/>
          <a:lstStyle/>
          <a:p>
            <a:pPr indent="0" marL="0">
              <a:buNone/>
            </a:pPr>
            <a:r>
              <a:rPr lang="en-US" sz="1500" dirty="0">
                <a:solidFill>
                  <a:schemeClr val="accent4"/>
                </a:solidFill>
                <a:latin typeface="Consolas" pitchFamily="34" charset="0"/>
                <a:ea typeface="Consolas" pitchFamily="34" charset="-122"/>
                <a:cs typeface="Consolas" pitchFamily="34" charset="-120"/>
              </a:rPr>
              <a:t>analytics.get_transactions</a:t>
            </a:r>
            <a:endParaRPr lang="en-US" sz="1500" dirty="0"/>
          </a:p>
        </p:txBody>
      </p:sp>
      <p:sp>
        <p:nvSpPr>
          <p:cNvPr id="28" name="Shape 26"/>
          <p:cNvSpPr/>
          <p:nvPr/>
        </p:nvSpPr>
        <p:spPr>
          <a:xfrm>
            <a:off x="4526280" y="3044952"/>
            <a:ext cx="766267" cy="329184"/>
          </a:xfrm>
          <a:prstGeom prst="roundRect">
            <a:avLst>
              <a:gd name="adj" fmla="val 50000"/>
            </a:avLst>
          </a:prstGeom>
          <a:solidFill>
            <a:schemeClr val="accent4">
              <a:alpha val="18000"/>
            </a:schemeClr>
          </a:solidFill>
          <a:ln w="9525">
            <a:solidFill>
              <a:schemeClr val="accent4"/>
            </a:solidFill>
            <a:prstDash val="solid"/>
          </a:ln>
        </p:spPr>
      </p:sp>
      <p:sp>
        <p:nvSpPr>
          <p:cNvPr id="29" name="Text 27"/>
          <p:cNvSpPr txBox="1"/>
          <p:nvPr/>
        </p:nvSpPr>
        <p:spPr>
          <a:xfrm>
            <a:off x="4526280" y="3044952"/>
            <a:ext cx="766267" cy="329184"/>
          </a:xfrm>
          <a:prstGeom prst="rect">
            <a:avLst/>
          </a:prstGeom>
          <a:noFill/>
          <a:ln/>
        </p:spPr>
        <p:txBody>
          <a:bodyPr wrap="square" lIns="0" tIns="0" rIns="0" bIns="0" rtlCol="0" anchor="ctr"/>
          <a:lstStyle/>
          <a:p>
            <a:pPr algn="ctr" indent="0" marL="0">
              <a:buNone/>
            </a:pPr>
            <a:r>
              <a:rPr lang="en-US" sz="1200" dirty="0">
                <a:solidFill>
                  <a:schemeClr val="accent4"/>
                </a:solidFill>
                <a:latin typeface="Consolas" pitchFamily="34" charset="0"/>
                <a:ea typeface="Consolas" pitchFamily="34" charset="-122"/>
                <a:cs typeface="Consolas" pitchFamily="34" charset="-120"/>
              </a:rPr>
              <a:t>region</a:t>
            </a:r>
            <a:endParaRPr lang="en-US" sz="1200" dirty="0"/>
          </a:p>
        </p:txBody>
      </p:sp>
      <p:sp>
        <p:nvSpPr>
          <p:cNvPr id="30" name="Shape 28"/>
          <p:cNvSpPr/>
          <p:nvPr/>
        </p:nvSpPr>
        <p:spPr>
          <a:xfrm>
            <a:off x="5347411" y="3044952"/>
            <a:ext cx="1276502" cy="329184"/>
          </a:xfrm>
          <a:prstGeom prst="roundRect">
            <a:avLst>
              <a:gd name="adj" fmla="val 50000"/>
            </a:avLst>
          </a:prstGeom>
          <a:solidFill>
            <a:schemeClr val="accent3">
              <a:alpha val="18000"/>
            </a:schemeClr>
          </a:solidFill>
          <a:ln w="9525">
            <a:solidFill>
              <a:schemeClr val="accent3"/>
            </a:solidFill>
            <a:prstDash val="solid"/>
          </a:ln>
        </p:spPr>
      </p:sp>
      <p:sp>
        <p:nvSpPr>
          <p:cNvPr id="31" name="Text 29"/>
          <p:cNvSpPr txBox="1"/>
          <p:nvPr/>
        </p:nvSpPr>
        <p:spPr>
          <a:xfrm>
            <a:off x="5347411" y="3044952"/>
            <a:ext cx="1276502" cy="329184"/>
          </a:xfrm>
          <a:prstGeom prst="rect">
            <a:avLst/>
          </a:prstGeom>
          <a:noFill/>
          <a:ln/>
        </p:spPr>
        <p:txBody>
          <a:bodyPr wrap="square" lIns="0" tIns="0" rIns="0" bIns="0" rtlCol="0" anchor="ctr"/>
          <a:lstStyle/>
          <a:p>
            <a:pPr algn="ctr" indent="0" marL="0">
              <a:buNone/>
            </a:pPr>
            <a:r>
              <a:rPr lang="en-US" sz="1200" dirty="0">
                <a:solidFill>
                  <a:schemeClr val="accent3"/>
                </a:solidFill>
                <a:latin typeface="Consolas" pitchFamily="34" charset="0"/>
                <a:ea typeface="Consolas" pitchFamily="34" charset="-122"/>
                <a:cs typeface="Consolas" pitchFamily="34" charset="-120"/>
              </a:rPr>
              <a:t>amount_cents</a:t>
            </a:r>
            <a:endParaRPr lang="en-US" sz="1200" dirty="0"/>
          </a:p>
        </p:txBody>
      </p:sp>
      <p:sp>
        <p:nvSpPr>
          <p:cNvPr id="32" name="Text 30"/>
          <p:cNvSpPr txBox="1"/>
          <p:nvPr/>
        </p:nvSpPr>
        <p:spPr>
          <a:xfrm>
            <a:off x="8229600" y="2761488"/>
            <a:ext cx="960120" cy="896112"/>
          </a:xfrm>
          <a:prstGeom prst="rect">
            <a:avLst/>
          </a:prstGeom>
          <a:noFill/>
          <a:ln/>
        </p:spPr>
        <p:txBody>
          <a:bodyPr wrap="square" lIns="0" tIns="0" rIns="0" bIns="0" rtlCol="0" anchor="ctr"/>
          <a:lstStyle/>
          <a:p>
            <a:pPr indent="0" marL="0">
              <a:buNone/>
            </a:pPr>
            <a:r>
              <a:rPr lang="en-US" sz="2000" b="1" dirty="0">
                <a:solidFill>
                  <a:schemeClr val="bg1"/>
                </a:solidFill>
              </a:rPr>
              <a:t>5,000</a:t>
            </a:r>
            <a:endParaRPr lang="en-US" sz="2000" dirty="0"/>
          </a:p>
        </p:txBody>
      </p:sp>
      <p:sp>
        <p:nvSpPr>
          <p:cNvPr id="33" name="Text 31"/>
          <p:cNvSpPr txBox="1"/>
          <p:nvPr/>
        </p:nvSpPr>
        <p:spPr>
          <a:xfrm>
            <a:off x="9189720" y="2761488"/>
            <a:ext cx="1005840" cy="896112"/>
          </a:xfrm>
          <a:prstGeom prst="rect">
            <a:avLst/>
          </a:prstGeom>
          <a:noFill/>
          <a:ln/>
        </p:spPr>
        <p:txBody>
          <a:bodyPr wrap="square" lIns="0" tIns="0" rIns="0" bIns="0" rtlCol="0" anchor="ctr"/>
          <a:lstStyle/>
          <a:p>
            <a:pPr indent="0" marL="0">
              <a:buNone/>
            </a:pPr>
            <a:r>
              <a:rPr lang="en-US" sz="2000" b="1" dirty="0">
                <a:solidFill>
                  <a:schemeClr val="accent1"/>
                </a:solidFill>
              </a:rPr>
              <a:t>0</a:t>
            </a:r>
            <a:endParaRPr lang="en-US" sz="2000" dirty="0"/>
          </a:p>
        </p:txBody>
      </p:sp>
      <p:sp>
        <p:nvSpPr>
          <p:cNvPr id="34" name="Shape 32"/>
          <p:cNvSpPr/>
          <p:nvPr/>
        </p:nvSpPr>
        <p:spPr>
          <a:xfrm>
            <a:off x="10168128" y="2907792"/>
            <a:ext cx="1353312" cy="329184"/>
          </a:xfrm>
          <a:prstGeom prst="roundRect">
            <a:avLst>
              <a:gd name="adj" fmla="val 50000"/>
            </a:avLst>
          </a:prstGeom>
          <a:solidFill>
            <a:schemeClr val="accent3">
              <a:alpha val="20000"/>
            </a:schemeClr>
          </a:solidFill>
          <a:ln w="12700">
            <a:solidFill>
              <a:schemeClr val="accent3"/>
            </a:solidFill>
            <a:prstDash val="solid"/>
          </a:ln>
        </p:spPr>
      </p:sp>
      <p:sp>
        <p:nvSpPr>
          <p:cNvPr id="35" name="Text 33"/>
          <p:cNvSpPr txBox="1"/>
          <p:nvPr/>
        </p:nvSpPr>
        <p:spPr>
          <a:xfrm>
            <a:off x="10168128" y="2907792"/>
            <a:ext cx="1353312" cy="329184"/>
          </a:xfrm>
          <a:prstGeom prst="rect">
            <a:avLst/>
          </a:prstGeom>
          <a:noFill/>
          <a:ln/>
        </p:spPr>
        <p:txBody>
          <a:bodyPr wrap="square" lIns="0" tIns="0" rIns="0" bIns="0" rtlCol="0" anchor="ctr"/>
          <a:lstStyle/>
          <a:p>
            <a:pPr algn="ctr" indent="0" marL="0">
              <a:buNone/>
            </a:pPr>
            <a:r>
              <a:rPr lang="en-US" sz="1100" b="1" dirty="0">
                <a:solidFill>
                  <a:schemeClr val="accent3"/>
                </a:solidFill>
              </a:rPr>
              <a:t>MORE EXPOSURE</a:t>
            </a:r>
            <a:endParaRPr lang="en-US" sz="1100" dirty="0"/>
          </a:p>
        </p:txBody>
      </p:sp>
      <p:sp>
        <p:nvSpPr>
          <p:cNvPr id="36" name="Text 34"/>
          <p:cNvSpPr txBox="1"/>
          <p:nvPr/>
        </p:nvSpPr>
        <p:spPr>
          <a:xfrm>
            <a:off x="10076688" y="3273552"/>
            <a:ext cx="1536192" cy="274320"/>
          </a:xfrm>
          <a:prstGeom prst="rect">
            <a:avLst/>
          </a:prstGeom>
          <a:noFill/>
          <a:ln/>
        </p:spPr>
        <p:txBody>
          <a:bodyPr wrap="square" lIns="0" tIns="0" rIns="0" bIns="0" rtlCol="0" anchor="t"/>
          <a:lstStyle/>
          <a:p>
            <a:pPr algn="ctr" indent="0" marL="0">
              <a:buNone/>
            </a:pPr>
            <a:r>
              <a:rPr lang="en-US" sz="1200" dirty="0">
                <a:solidFill>
                  <a:schemeClr val="bg2"/>
                </a:solidFill>
              </a:rPr>
              <a:t>denied for this task</a:t>
            </a:r>
            <a:endParaRPr lang="en-US" sz="1200" dirty="0"/>
          </a:p>
        </p:txBody>
      </p:sp>
      <p:sp>
        <p:nvSpPr>
          <p:cNvPr id="37" name="plan C"/>
          <p:cNvSpPr/>
          <p:nvPr/>
        </p:nvSpPr>
        <p:spPr>
          <a:xfrm>
            <a:off x="548640" y="3785616"/>
            <a:ext cx="11091672" cy="896112"/>
          </a:xfrm>
          <a:prstGeom prst="roundRect">
            <a:avLst>
              <a:gd name="adj" fmla="val 12245"/>
            </a:avLst>
          </a:prstGeom>
          <a:solidFill>
            <a:schemeClr val="tx2"/>
          </a:solidFill>
          <a:ln w="12700">
            <a:solidFill>
              <a:srgbClr val="2DD4BF"/>
            </a:solidFill>
            <a:prstDash val="solid"/>
          </a:ln>
        </p:spPr>
      </p:sp>
      <p:sp>
        <p:nvSpPr>
          <p:cNvPr id="38" name="Text 36"/>
          <p:cNvSpPr txBox="1"/>
          <p:nvPr/>
        </p:nvSpPr>
        <p:spPr>
          <a:xfrm>
            <a:off x="777240" y="3785616"/>
            <a:ext cx="548640" cy="896112"/>
          </a:xfrm>
          <a:prstGeom prst="rect">
            <a:avLst/>
          </a:prstGeom>
          <a:noFill/>
          <a:ln/>
        </p:spPr>
        <p:txBody>
          <a:bodyPr wrap="square" lIns="0" tIns="0" rIns="0" bIns="0" rtlCol="0" anchor="ctr"/>
          <a:lstStyle/>
          <a:p>
            <a:pPr indent="0" marL="0">
              <a:buNone/>
            </a:pPr>
            <a:r>
              <a:rPr lang="en-US" sz="2600" b="1" dirty="0">
                <a:solidFill>
                  <a:schemeClr val="accent1"/>
                </a:solidFill>
              </a:rPr>
              <a:t>C</a:t>
            </a:r>
            <a:endParaRPr lang="en-US" sz="2600" dirty="0"/>
          </a:p>
        </p:txBody>
      </p:sp>
      <p:sp>
        <p:nvSpPr>
          <p:cNvPr id="39" name="Text 37"/>
          <p:cNvSpPr txBox="1"/>
          <p:nvPr/>
        </p:nvSpPr>
        <p:spPr>
          <a:xfrm>
            <a:off x="1371600" y="3785616"/>
            <a:ext cx="3108960" cy="896112"/>
          </a:xfrm>
          <a:prstGeom prst="rect">
            <a:avLst/>
          </a:prstGeom>
          <a:noFill/>
          <a:ln/>
        </p:spPr>
        <p:txBody>
          <a:bodyPr wrap="square" lIns="0" tIns="0" rIns="0" bIns="0" rtlCol="0" anchor="ctr"/>
          <a:lstStyle/>
          <a:p>
            <a:pPr indent="0" marL="0">
              <a:buNone/>
            </a:pPr>
            <a:r>
              <a:rPr lang="en-US" sz="1500" dirty="0">
                <a:solidFill>
                  <a:schemeClr val="accent4"/>
                </a:solidFill>
                <a:latin typeface="Consolas" pitchFamily="34" charset="0"/>
                <a:ea typeface="Consolas" pitchFamily="34" charset="-122"/>
                <a:cs typeface="Consolas" pitchFamily="34" charset="-120"/>
              </a:rPr>
              <a:t>analytics.get_sales_summary</a:t>
            </a:r>
            <a:endParaRPr lang="en-US" sz="1500" dirty="0"/>
          </a:p>
        </p:txBody>
      </p:sp>
      <p:sp>
        <p:nvSpPr>
          <p:cNvPr id="40" name="Shape 38"/>
          <p:cNvSpPr/>
          <p:nvPr/>
        </p:nvSpPr>
        <p:spPr>
          <a:xfrm>
            <a:off x="4526280" y="4069080"/>
            <a:ext cx="766267" cy="329184"/>
          </a:xfrm>
          <a:prstGeom prst="roundRect">
            <a:avLst>
              <a:gd name="adj" fmla="val 50000"/>
            </a:avLst>
          </a:prstGeom>
          <a:solidFill>
            <a:schemeClr val="accent4">
              <a:alpha val="18000"/>
            </a:schemeClr>
          </a:solidFill>
          <a:ln w="9525">
            <a:solidFill>
              <a:schemeClr val="accent4"/>
            </a:solidFill>
            <a:prstDash val="solid"/>
          </a:ln>
        </p:spPr>
      </p:sp>
      <p:sp>
        <p:nvSpPr>
          <p:cNvPr id="41" name="Text 39"/>
          <p:cNvSpPr txBox="1"/>
          <p:nvPr/>
        </p:nvSpPr>
        <p:spPr>
          <a:xfrm>
            <a:off x="4526280" y="4069080"/>
            <a:ext cx="766267" cy="329184"/>
          </a:xfrm>
          <a:prstGeom prst="rect">
            <a:avLst/>
          </a:prstGeom>
          <a:noFill/>
          <a:ln/>
        </p:spPr>
        <p:txBody>
          <a:bodyPr wrap="square" lIns="0" tIns="0" rIns="0" bIns="0" rtlCol="0" anchor="ctr"/>
          <a:lstStyle/>
          <a:p>
            <a:pPr algn="ctr" indent="0" marL="0">
              <a:buNone/>
            </a:pPr>
            <a:r>
              <a:rPr lang="en-US" sz="1200" dirty="0">
                <a:solidFill>
                  <a:schemeClr val="accent4"/>
                </a:solidFill>
                <a:latin typeface="Consolas" pitchFamily="34" charset="0"/>
                <a:ea typeface="Consolas" pitchFamily="34" charset="-122"/>
                <a:cs typeface="Consolas" pitchFamily="34" charset="-120"/>
              </a:rPr>
              <a:t>region</a:t>
            </a:r>
            <a:endParaRPr lang="en-US" sz="1200" dirty="0"/>
          </a:p>
        </p:txBody>
      </p:sp>
      <p:sp>
        <p:nvSpPr>
          <p:cNvPr id="42" name="Shape 40"/>
          <p:cNvSpPr/>
          <p:nvPr/>
        </p:nvSpPr>
        <p:spPr>
          <a:xfrm>
            <a:off x="5347411" y="4069080"/>
            <a:ext cx="1191463" cy="329184"/>
          </a:xfrm>
          <a:prstGeom prst="roundRect">
            <a:avLst>
              <a:gd name="adj" fmla="val 50000"/>
            </a:avLst>
          </a:prstGeom>
          <a:solidFill>
            <a:schemeClr val="accent4">
              <a:alpha val="18000"/>
            </a:schemeClr>
          </a:solidFill>
          <a:ln w="9525">
            <a:solidFill>
              <a:schemeClr val="accent4"/>
            </a:solidFill>
            <a:prstDash val="solid"/>
          </a:ln>
        </p:spPr>
      </p:sp>
      <p:sp>
        <p:nvSpPr>
          <p:cNvPr id="43" name="Text 41"/>
          <p:cNvSpPr txBox="1"/>
          <p:nvPr/>
        </p:nvSpPr>
        <p:spPr>
          <a:xfrm>
            <a:off x="5347411" y="4069080"/>
            <a:ext cx="1191463" cy="329184"/>
          </a:xfrm>
          <a:prstGeom prst="rect">
            <a:avLst/>
          </a:prstGeom>
          <a:noFill/>
          <a:ln/>
        </p:spPr>
        <p:txBody>
          <a:bodyPr wrap="square" lIns="0" tIns="0" rIns="0" bIns="0" rtlCol="0" anchor="ctr"/>
          <a:lstStyle/>
          <a:p>
            <a:pPr algn="ctr" indent="0" marL="0">
              <a:buNone/>
            </a:pPr>
            <a:r>
              <a:rPr lang="en-US" sz="1200" dirty="0">
                <a:solidFill>
                  <a:schemeClr val="accent4"/>
                </a:solidFill>
                <a:latin typeface="Consolas" pitchFamily="34" charset="0"/>
                <a:ea typeface="Consolas" pitchFamily="34" charset="-122"/>
                <a:cs typeface="Consolas" pitchFamily="34" charset="-120"/>
              </a:rPr>
              <a:t>value_cents</a:t>
            </a:r>
            <a:endParaRPr lang="en-US" sz="1200" dirty="0"/>
          </a:p>
        </p:txBody>
      </p:sp>
      <p:sp>
        <p:nvSpPr>
          <p:cNvPr id="44" name="Shape 42"/>
          <p:cNvSpPr/>
          <p:nvPr/>
        </p:nvSpPr>
        <p:spPr>
          <a:xfrm>
            <a:off x="6593738" y="4069080"/>
            <a:ext cx="936346" cy="329184"/>
          </a:xfrm>
          <a:prstGeom prst="roundRect">
            <a:avLst>
              <a:gd name="adj" fmla="val 50000"/>
            </a:avLst>
          </a:prstGeom>
          <a:solidFill>
            <a:schemeClr val="accent4">
              <a:alpha val="18000"/>
            </a:schemeClr>
          </a:solidFill>
          <a:ln w="9525">
            <a:solidFill>
              <a:schemeClr val="accent4"/>
            </a:solidFill>
            <a:prstDash val="solid"/>
          </a:ln>
        </p:spPr>
      </p:sp>
      <p:sp>
        <p:nvSpPr>
          <p:cNvPr id="45" name="Text 43"/>
          <p:cNvSpPr txBox="1"/>
          <p:nvPr/>
        </p:nvSpPr>
        <p:spPr>
          <a:xfrm>
            <a:off x="6593738" y="4069080"/>
            <a:ext cx="936346" cy="329184"/>
          </a:xfrm>
          <a:prstGeom prst="rect">
            <a:avLst/>
          </a:prstGeom>
          <a:noFill/>
          <a:ln/>
        </p:spPr>
        <p:txBody>
          <a:bodyPr wrap="square" lIns="0" tIns="0" rIns="0" bIns="0" rtlCol="0" anchor="ctr"/>
          <a:lstStyle/>
          <a:p>
            <a:pPr algn="ctr" indent="0" marL="0">
              <a:buNone/>
            </a:pPr>
            <a:r>
              <a:rPr lang="en-US" sz="1200" dirty="0">
                <a:solidFill>
                  <a:schemeClr val="accent4"/>
                </a:solidFill>
                <a:latin typeface="Consolas" pitchFamily="34" charset="0"/>
                <a:ea typeface="Consolas" pitchFamily="34" charset="-122"/>
                <a:cs typeface="Consolas" pitchFamily="34" charset="-120"/>
              </a:rPr>
              <a:t>tx_count</a:t>
            </a:r>
            <a:endParaRPr lang="en-US" sz="1200" dirty="0"/>
          </a:p>
        </p:txBody>
      </p:sp>
      <p:sp>
        <p:nvSpPr>
          <p:cNvPr id="46" name="Text 44"/>
          <p:cNvSpPr txBox="1"/>
          <p:nvPr/>
        </p:nvSpPr>
        <p:spPr>
          <a:xfrm>
            <a:off x="8229600" y="3785616"/>
            <a:ext cx="960120" cy="896112"/>
          </a:xfrm>
          <a:prstGeom prst="rect">
            <a:avLst/>
          </a:prstGeom>
          <a:noFill/>
          <a:ln/>
        </p:spPr>
        <p:txBody>
          <a:bodyPr wrap="square" lIns="0" tIns="0" rIns="0" bIns="0" rtlCol="0" anchor="ctr"/>
          <a:lstStyle/>
          <a:p>
            <a:pPr indent="0" marL="0">
              <a:buNone/>
            </a:pPr>
            <a:r>
              <a:rPr lang="en-US" sz="2000" b="1" dirty="0">
                <a:solidFill>
                  <a:schemeClr val="bg1"/>
                </a:solidFill>
              </a:rPr>
              <a:t>4 agg.</a:t>
            </a:r>
            <a:endParaRPr lang="en-US" sz="2000" dirty="0"/>
          </a:p>
        </p:txBody>
      </p:sp>
      <p:sp>
        <p:nvSpPr>
          <p:cNvPr id="47" name="Text 45"/>
          <p:cNvSpPr txBox="1"/>
          <p:nvPr/>
        </p:nvSpPr>
        <p:spPr>
          <a:xfrm>
            <a:off x="9189720" y="3785616"/>
            <a:ext cx="1005840" cy="896112"/>
          </a:xfrm>
          <a:prstGeom prst="rect">
            <a:avLst/>
          </a:prstGeom>
          <a:noFill/>
          <a:ln/>
        </p:spPr>
        <p:txBody>
          <a:bodyPr wrap="square" lIns="0" tIns="0" rIns="0" bIns="0" rtlCol="0" anchor="ctr"/>
          <a:lstStyle/>
          <a:p>
            <a:pPr indent="0" marL="0">
              <a:buNone/>
            </a:pPr>
            <a:r>
              <a:rPr lang="en-US" sz="2000" b="1" dirty="0">
                <a:solidFill>
                  <a:schemeClr val="accent1"/>
                </a:solidFill>
              </a:rPr>
              <a:t>0</a:t>
            </a:r>
            <a:endParaRPr lang="en-US" sz="2000" dirty="0"/>
          </a:p>
        </p:txBody>
      </p:sp>
      <p:sp>
        <p:nvSpPr>
          <p:cNvPr id="48" name="Shape 46"/>
          <p:cNvSpPr/>
          <p:nvPr/>
        </p:nvSpPr>
        <p:spPr>
          <a:xfrm>
            <a:off x="10168128" y="3931920"/>
            <a:ext cx="1353312" cy="329184"/>
          </a:xfrm>
          <a:prstGeom prst="roundRect">
            <a:avLst>
              <a:gd name="adj" fmla="val 50000"/>
            </a:avLst>
          </a:prstGeom>
          <a:solidFill>
            <a:schemeClr val="accent1">
              <a:alpha val="20000"/>
            </a:schemeClr>
          </a:solidFill>
          <a:ln w="12700">
            <a:solidFill>
              <a:schemeClr val="accent1"/>
            </a:solidFill>
            <a:prstDash val="solid"/>
          </a:ln>
        </p:spPr>
      </p:sp>
      <p:sp>
        <p:nvSpPr>
          <p:cNvPr id="49" name="Text 47"/>
          <p:cNvSpPr txBox="1"/>
          <p:nvPr/>
        </p:nvSpPr>
        <p:spPr>
          <a:xfrm>
            <a:off x="10168128" y="3931920"/>
            <a:ext cx="1353312" cy="329184"/>
          </a:xfrm>
          <a:prstGeom prst="rect">
            <a:avLst/>
          </a:prstGeom>
          <a:noFill/>
          <a:ln/>
        </p:spPr>
        <p:txBody>
          <a:bodyPr wrap="square" lIns="0" tIns="0" rIns="0" bIns="0" rtlCol="0" anchor="ctr"/>
          <a:lstStyle/>
          <a:p>
            <a:pPr algn="ctr" indent="0" marL="0">
              <a:buNone/>
            </a:pPr>
            <a:r>
              <a:rPr lang="en-US" sz="1100" b="1" dirty="0">
                <a:solidFill>
                  <a:schemeClr val="accent1"/>
                </a:solidFill>
              </a:rPr>
              <a:t>SELECTED</a:t>
            </a:r>
            <a:endParaRPr lang="en-US" sz="1100" dirty="0"/>
          </a:p>
        </p:txBody>
      </p:sp>
      <p:sp>
        <p:nvSpPr>
          <p:cNvPr id="50" name="Text 48"/>
          <p:cNvSpPr txBox="1"/>
          <p:nvPr/>
        </p:nvSpPr>
        <p:spPr>
          <a:xfrm>
            <a:off x="10076688" y="4297680"/>
            <a:ext cx="1536192" cy="274320"/>
          </a:xfrm>
          <a:prstGeom prst="rect">
            <a:avLst/>
          </a:prstGeom>
          <a:noFill/>
          <a:ln/>
        </p:spPr>
        <p:txBody>
          <a:bodyPr wrap="square" lIns="0" tIns="0" rIns="0" bIns="0" rtlCol="0" anchor="t"/>
          <a:lstStyle/>
          <a:p>
            <a:pPr algn="ctr" indent="0" marL="0">
              <a:buNone/>
            </a:pPr>
            <a:r>
              <a:rPr lang="en-US" sz="1200" dirty="0">
                <a:solidFill>
                  <a:schemeClr val="bg2"/>
                </a:solidFill>
              </a:rPr>
              <a:t>executed</a:t>
            </a:r>
            <a:endParaRPr lang="en-US" sz="1200" dirty="0"/>
          </a:p>
        </p:txBody>
      </p:sp>
      <p:sp>
        <p:nvSpPr>
          <p:cNvPr id="51" name="estimate box"/>
          <p:cNvSpPr/>
          <p:nvPr/>
        </p:nvSpPr>
        <p:spPr>
          <a:xfrm>
            <a:off x="548640" y="4892040"/>
            <a:ext cx="5440680" cy="1325880"/>
          </a:xfrm>
          <a:prstGeom prst="roundRect">
            <a:avLst>
              <a:gd name="adj" fmla="val 8276"/>
            </a:avLst>
          </a:prstGeom>
          <a:solidFill>
            <a:schemeClr val="accent3">
              <a:alpha val="10000"/>
            </a:schemeClr>
          </a:solidFill>
          <a:ln w="12700">
            <a:solidFill>
              <a:srgbClr val="FBBF24"/>
            </a:solidFill>
            <a:prstDash val="solid"/>
          </a:ln>
        </p:spPr>
      </p:sp>
      <p:sp>
        <p:nvSpPr>
          <p:cNvPr id="52" name="Text 50"/>
          <p:cNvSpPr txBox="1"/>
          <p:nvPr/>
        </p:nvSpPr>
        <p:spPr>
          <a:xfrm>
            <a:off x="777240" y="5010912"/>
            <a:ext cx="5029200" cy="365760"/>
          </a:xfrm>
          <a:prstGeom prst="rect">
            <a:avLst/>
          </a:prstGeom>
          <a:noFill/>
          <a:ln/>
        </p:spPr>
        <p:txBody>
          <a:bodyPr wrap="square" lIns="0" tIns="0" rIns="0" bIns="0" rtlCol="0" anchor="t"/>
          <a:lstStyle/>
          <a:p>
            <a:pPr indent="0" marL="0">
              <a:buNone/>
            </a:pPr>
            <a:r>
              <a:rPr lang="en-US" sz="1600" b="1" dirty="0">
                <a:solidFill>
                  <a:schemeClr val="accent3"/>
                </a:solidFill>
              </a:rPr>
              <a:t>Candidate request (A, B)</a:t>
            </a:r>
            <a:endParaRPr lang="en-US" sz="1600" dirty="0"/>
          </a:p>
        </p:txBody>
      </p:sp>
      <p:sp>
        <p:nvSpPr>
          <p:cNvPr id="53" name="Text 51"/>
          <p:cNvSpPr txBox="1"/>
          <p:nvPr/>
        </p:nvSpPr>
        <p:spPr>
          <a:xfrm>
            <a:off x="777240" y="5394960"/>
            <a:ext cx="5029200" cy="731520"/>
          </a:xfrm>
          <a:prstGeom prst="rect">
            <a:avLst/>
          </a:prstGeom>
          <a:noFill/>
          <a:ln/>
        </p:spPr>
        <p:txBody>
          <a:bodyPr wrap="square" lIns="0" tIns="0" rIns="0" bIns="0" rtlCol="0" anchor="t"/>
          <a:lstStyle/>
          <a:p>
            <a:pPr indent="0" marL="0">
              <a:buNone/>
            </a:pPr>
            <a:r>
              <a:rPr lang="en-US" sz="1500" dirty="0">
                <a:solidFill>
                  <a:schemeClr val="bg1"/>
                </a:solidFill>
              </a:rPr>
              <a:t>Estimated from the trusted registry. Rejected before execution, so no upstream call was made.</a:t>
            </a:r>
            <a:endParaRPr lang="en-US" sz="1500" dirty="0"/>
          </a:p>
        </p:txBody>
      </p:sp>
      <p:sp>
        <p:nvSpPr>
          <p:cNvPr id="54" name="measured box"/>
          <p:cNvSpPr/>
          <p:nvPr/>
        </p:nvSpPr>
        <p:spPr>
          <a:xfrm>
            <a:off x="6199632" y="4892040"/>
            <a:ext cx="5440680" cy="1325880"/>
          </a:xfrm>
          <a:prstGeom prst="roundRect">
            <a:avLst>
              <a:gd name="adj" fmla="val 8276"/>
            </a:avLst>
          </a:prstGeom>
          <a:solidFill>
            <a:schemeClr val="accent1">
              <a:alpha val="10000"/>
            </a:schemeClr>
          </a:solidFill>
          <a:ln w="12700">
            <a:solidFill>
              <a:srgbClr val="2DD4BF"/>
            </a:solidFill>
            <a:prstDash val="solid"/>
          </a:ln>
        </p:spPr>
      </p:sp>
      <p:sp>
        <p:nvSpPr>
          <p:cNvPr id="55" name="Text 53"/>
          <p:cNvSpPr txBox="1"/>
          <p:nvPr/>
        </p:nvSpPr>
        <p:spPr>
          <a:xfrm>
            <a:off x="6428232" y="5010912"/>
            <a:ext cx="5029200" cy="365760"/>
          </a:xfrm>
          <a:prstGeom prst="rect">
            <a:avLst/>
          </a:prstGeom>
          <a:noFill/>
          <a:ln/>
        </p:spPr>
        <p:txBody>
          <a:bodyPr wrap="square" lIns="0" tIns="0" rIns="0" bIns="0" rtlCol="0" anchor="t"/>
          <a:lstStyle/>
          <a:p>
            <a:pPr indent="0" marL="0">
              <a:buNone/>
            </a:pPr>
            <a:r>
              <a:rPr lang="en-US" sz="1600" b="1" dirty="0">
                <a:solidFill>
                  <a:schemeClr val="accent1"/>
                </a:solidFill>
              </a:rPr>
              <a:t>Executed response (C), measured</a:t>
            </a:r>
            <a:endParaRPr lang="en-US" sz="1600" dirty="0"/>
          </a:p>
        </p:txBody>
      </p:sp>
      <p:sp>
        <p:nvSpPr>
          <p:cNvPr id="56" name="Text 54"/>
          <p:cNvSpPr txBox="1"/>
          <p:nvPr/>
        </p:nvSpPr>
        <p:spPr>
          <a:xfrm>
            <a:off x="6428232" y="5394960"/>
            <a:ext cx="5029200" cy="731520"/>
          </a:xfrm>
          <a:prstGeom prst="rect">
            <a:avLst/>
          </a:prstGeom>
          <a:noFill/>
          <a:ln/>
        </p:spPr>
        <p:txBody>
          <a:bodyPr wrap="square" lIns="0" tIns="0" rIns="0" bIns="0" rtlCol="0" anchor="t"/>
          <a:lstStyle/>
          <a:p>
            <a:pPr indent="0" marL="0">
              <a:buNone/>
            </a:pPr>
            <a:r>
              <a:rPr lang="en-US" sz="1500" dirty="0">
                <a:solidFill>
                  <a:schemeClr val="bg1"/>
                </a:solidFill>
              </a:rPr>
              <a:t>4 aggregate rows · 356 bytes · 0 personal values · totals = independent SQL</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Live demo: watch the scope shrink</a:t>
            </a:r>
            <a:endParaRPr lang="en-US" sz="3400" dirty="0"/>
          </a:p>
        </p:txBody>
      </p:sp>
      <p:sp>
        <p:nvSpPr>
          <p:cNvPr id="3" name="screenshot frame"/>
          <p:cNvSpPr/>
          <p:nvPr/>
        </p:nvSpPr>
        <p:spPr>
          <a:xfrm>
            <a:off x="548640" y="1325880"/>
            <a:ext cx="7406640" cy="4773168"/>
          </a:xfrm>
          <a:prstGeom prst="roundRect">
            <a:avLst>
              <a:gd name="adj" fmla="val 2299"/>
            </a:avLst>
          </a:prstGeom>
          <a:solidFill>
            <a:schemeClr val="tx2"/>
          </a:solidFill>
          <a:ln w="12700">
            <a:solidFill>
              <a:srgbClr val="2A3A55"/>
            </a:solidFill>
            <a:prstDash val="solid"/>
          </a:ln>
          <a:effectLst>
            <a:outerShdw sx="100000" sy="100000" kx="0" ky="0" algn="bl" rotWithShape="0" blurRad="101600" dist="38100" dir="5400000">
              <a:srgbClr val="000000">
                <a:alpha val="35000"/>
              </a:srgbClr>
            </a:outerShdw>
          </a:effectLst>
        </p:spPr>
      </p:sp>
      <p:pic>
        <p:nvPicPr>
          <p:cNvPr id="4" name="Image 0" descr="ScopeGuard dashboard after the sales-by-region run">    </p:cNvPr>
          <p:cNvPicPr>
            <a:picLocks noChangeAspect="1"/>
          </p:cNvPicPr>
          <p:nvPr/>
        </p:nvPicPr>
        <p:blipFill>
          <a:blip r:embed="rId1"/>
          <a:stretch>
            <a:fillRect/>
          </a:stretch>
        </p:blipFill>
        <p:spPr>
          <a:xfrm>
            <a:off x="640080" y="1417320"/>
            <a:ext cx="7223760" cy="4514850"/>
          </a:xfrm>
          <a:prstGeom prst="rect">
            <a:avLst/>
          </a:prstGeom>
        </p:spPr>
      </p:pic>
      <p:sp>
        <p:nvSpPr>
          <p:cNvPr id="5" name="Shape 2"/>
          <p:cNvSpPr/>
          <p:nvPr/>
        </p:nvSpPr>
        <p:spPr>
          <a:xfrm>
            <a:off x="2151400" y="1997678"/>
            <a:ext cx="329184" cy="329184"/>
          </a:xfrm>
          <a:prstGeom prst="ellipse">
            <a:avLst/>
          </a:prstGeom>
          <a:solidFill>
            <a:schemeClr val="accent3"/>
          </a:solidFill>
          <a:ln w="25400">
            <a:solidFill>
              <a:schemeClr val="tx1"/>
            </a:solidFill>
            <a:prstDash val="solid"/>
          </a:ln>
        </p:spPr>
      </p:sp>
      <p:sp>
        <p:nvSpPr>
          <p:cNvPr id="6" name="Text 3"/>
          <p:cNvSpPr txBox="1"/>
          <p:nvPr/>
        </p:nvSpPr>
        <p:spPr>
          <a:xfrm>
            <a:off x="2151400" y="1997678"/>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Shape 4"/>
          <p:cNvSpPr/>
          <p:nvPr/>
        </p:nvSpPr>
        <p:spPr>
          <a:xfrm>
            <a:off x="2173072" y="2584609"/>
            <a:ext cx="329184" cy="329184"/>
          </a:xfrm>
          <a:prstGeom prst="ellipse">
            <a:avLst/>
          </a:prstGeom>
          <a:solidFill>
            <a:schemeClr val="accent3"/>
          </a:solidFill>
          <a:ln w="25400">
            <a:solidFill>
              <a:schemeClr val="tx1"/>
            </a:solidFill>
            <a:prstDash val="solid"/>
          </a:ln>
        </p:spPr>
      </p:sp>
      <p:sp>
        <p:nvSpPr>
          <p:cNvPr id="8" name="Text 5"/>
          <p:cNvSpPr txBox="1"/>
          <p:nvPr/>
        </p:nvSpPr>
        <p:spPr>
          <a:xfrm>
            <a:off x="2173072" y="2584609"/>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Shape 6"/>
          <p:cNvSpPr/>
          <p:nvPr/>
        </p:nvSpPr>
        <p:spPr>
          <a:xfrm>
            <a:off x="4896429" y="1997678"/>
            <a:ext cx="329184" cy="329184"/>
          </a:xfrm>
          <a:prstGeom prst="ellipse">
            <a:avLst/>
          </a:prstGeom>
          <a:solidFill>
            <a:schemeClr val="accent3"/>
          </a:solidFill>
          <a:ln w="25400">
            <a:solidFill>
              <a:schemeClr val="tx1"/>
            </a:solidFill>
            <a:prstDash val="solid"/>
          </a:ln>
        </p:spPr>
      </p:sp>
      <p:sp>
        <p:nvSpPr>
          <p:cNvPr id="10" name="Text 7"/>
          <p:cNvSpPr txBox="1"/>
          <p:nvPr/>
        </p:nvSpPr>
        <p:spPr>
          <a:xfrm>
            <a:off x="4896429" y="1997678"/>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Shape 8"/>
          <p:cNvSpPr/>
          <p:nvPr/>
        </p:nvSpPr>
        <p:spPr>
          <a:xfrm>
            <a:off x="8211312" y="1417320"/>
            <a:ext cx="457200" cy="457200"/>
          </a:xfrm>
          <a:prstGeom prst="ellipse">
            <a:avLst/>
          </a:prstGeom>
          <a:solidFill>
            <a:schemeClr val="accent3"/>
          </a:solidFill>
          <a:ln w="12700">
            <a:solidFill>
              <a:schemeClr val="accent3"/>
            </a:solidFill>
            <a:prstDash val="solid"/>
          </a:ln>
        </p:spPr>
      </p:sp>
      <p:sp>
        <p:nvSpPr>
          <p:cNvPr id="12" name="Text 9"/>
          <p:cNvSpPr txBox="1"/>
          <p:nvPr/>
        </p:nvSpPr>
        <p:spPr>
          <a:xfrm>
            <a:off x="8211312" y="14173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3" name="Text 10"/>
          <p:cNvSpPr txBox="1"/>
          <p:nvPr/>
        </p:nvSpPr>
        <p:spPr>
          <a:xfrm>
            <a:off x="8823960" y="1399032"/>
            <a:ext cx="2834640" cy="411480"/>
          </a:xfrm>
          <a:prstGeom prst="rect">
            <a:avLst/>
          </a:prstGeom>
          <a:noFill/>
          <a:ln/>
        </p:spPr>
        <p:txBody>
          <a:bodyPr wrap="square" lIns="0" tIns="0" rIns="0" bIns="0" rtlCol="0" anchor="t"/>
          <a:lstStyle/>
          <a:p>
            <a:pPr indent="0" marL="0">
              <a:buNone/>
            </a:pPr>
            <a:r>
              <a:rPr lang="en-US" sz="1800" b="1" dirty="0">
                <a:solidFill>
                  <a:schemeClr val="bg1"/>
                </a:solidFill>
              </a:rPr>
              <a:t>Unsafe request blocked</a:t>
            </a:r>
            <a:endParaRPr lang="en-US" sz="1800" dirty="0"/>
          </a:p>
        </p:txBody>
      </p:sp>
      <p:sp>
        <p:nvSpPr>
          <p:cNvPr id="14" name="Text 11"/>
          <p:cNvSpPr txBox="1"/>
          <p:nvPr/>
        </p:nvSpPr>
        <p:spPr>
          <a:xfrm>
            <a:off x="8823960" y="1828800"/>
            <a:ext cx="2834640" cy="822960"/>
          </a:xfrm>
          <a:prstGeom prst="rect">
            <a:avLst/>
          </a:prstGeom>
          <a:noFill/>
          <a:ln/>
        </p:spPr>
        <p:txBody>
          <a:bodyPr wrap="square" lIns="0" tIns="0" rIns="0" bIns="0" rtlCol="0" anchor="t"/>
          <a:lstStyle/>
          <a:p>
            <a:pPr indent="0" marL="0">
              <a:buNone/>
            </a:pPr>
            <a:r>
              <a:rPr lang="en-US" sz="1400" dirty="0">
                <a:solidFill>
                  <a:schemeClr val="bg2"/>
                </a:solidFill>
              </a:rPr>
              <a:t>Broad CRM export (5,000 rows requested) denied and never executed</a:t>
            </a:r>
            <a:endParaRPr lang="en-US" sz="1400" dirty="0"/>
          </a:p>
        </p:txBody>
      </p:sp>
      <p:sp>
        <p:nvSpPr>
          <p:cNvPr id="15" name="Shape 12"/>
          <p:cNvSpPr/>
          <p:nvPr/>
        </p:nvSpPr>
        <p:spPr>
          <a:xfrm>
            <a:off x="8211312" y="2788920"/>
            <a:ext cx="457200" cy="457200"/>
          </a:xfrm>
          <a:prstGeom prst="ellipse">
            <a:avLst/>
          </a:prstGeom>
          <a:solidFill>
            <a:schemeClr val="accent3"/>
          </a:solidFill>
          <a:ln w="12700">
            <a:solidFill>
              <a:schemeClr val="accent3"/>
            </a:solidFill>
            <a:prstDash val="solid"/>
          </a:ln>
        </p:spPr>
      </p:sp>
      <p:sp>
        <p:nvSpPr>
          <p:cNvPr id="16" name="Text 13"/>
          <p:cNvSpPr txBox="1"/>
          <p:nvPr/>
        </p:nvSpPr>
        <p:spPr>
          <a:xfrm>
            <a:off x="8211312" y="27889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7" name="Text 14"/>
          <p:cNvSpPr txBox="1"/>
          <p:nvPr/>
        </p:nvSpPr>
        <p:spPr>
          <a:xfrm>
            <a:off x="8823960" y="2770632"/>
            <a:ext cx="2834640" cy="411480"/>
          </a:xfrm>
          <a:prstGeom prst="rect">
            <a:avLst/>
          </a:prstGeom>
          <a:noFill/>
          <a:ln/>
        </p:spPr>
        <p:txBody>
          <a:bodyPr wrap="square" lIns="0" tIns="0" rIns="0" bIns="0" rtlCol="0" anchor="t"/>
          <a:lstStyle/>
          <a:p>
            <a:pPr indent="0" marL="0">
              <a:buNone/>
            </a:pPr>
            <a:r>
              <a:rPr lang="en-US" sz="1800" b="1" dirty="0">
                <a:solidFill>
                  <a:schemeClr val="bg1"/>
                </a:solidFill>
              </a:rPr>
              <a:t>Safe alternative executes</a:t>
            </a:r>
            <a:endParaRPr lang="en-US" sz="1800" dirty="0"/>
          </a:p>
        </p:txBody>
      </p:sp>
      <p:sp>
        <p:nvSpPr>
          <p:cNvPr id="18" name="Text 15"/>
          <p:cNvSpPr txBox="1"/>
          <p:nvPr/>
        </p:nvSpPr>
        <p:spPr>
          <a:xfrm>
            <a:off x="8823960" y="3200400"/>
            <a:ext cx="2834640" cy="822960"/>
          </a:xfrm>
          <a:prstGeom prst="rect">
            <a:avLst/>
          </a:prstGeom>
          <a:noFill/>
          <a:ln/>
        </p:spPr>
        <p:txBody>
          <a:bodyPr wrap="square" lIns="0" tIns="0" rIns="0" bIns="0" rtlCol="0" anchor="t"/>
          <a:lstStyle/>
          <a:p>
            <a:pPr indent="0" marL="0">
              <a:buNone/>
            </a:pPr>
            <a:r>
              <a:rPr lang="en-US" sz="1400" dirty="0">
                <a:solidFill>
                  <a:schemeClr val="bg2"/>
                </a:solidFill>
              </a:rPr>
              <a:t>Aggregate tool runs over real MCP; 4 aggregate rows returned</a:t>
            </a:r>
            <a:endParaRPr lang="en-US" sz="1400" dirty="0"/>
          </a:p>
        </p:txBody>
      </p:sp>
      <p:sp>
        <p:nvSpPr>
          <p:cNvPr id="19" name="Shape 16"/>
          <p:cNvSpPr/>
          <p:nvPr/>
        </p:nvSpPr>
        <p:spPr>
          <a:xfrm>
            <a:off x="8211312" y="4160520"/>
            <a:ext cx="457200" cy="457200"/>
          </a:xfrm>
          <a:prstGeom prst="ellipse">
            <a:avLst/>
          </a:prstGeom>
          <a:solidFill>
            <a:schemeClr val="accent3"/>
          </a:solidFill>
          <a:ln w="12700">
            <a:solidFill>
              <a:schemeClr val="accent3"/>
            </a:solidFill>
            <a:prstDash val="solid"/>
          </a:ln>
        </p:spPr>
      </p:sp>
      <p:sp>
        <p:nvSpPr>
          <p:cNvPr id="20" name="Text 17"/>
          <p:cNvSpPr txBox="1"/>
          <p:nvPr/>
        </p:nvSpPr>
        <p:spPr>
          <a:xfrm>
            <a:off x="8211312" y="416052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1" name="Text 18"/>
          <p:cNvSpPr txBox="1"/>
          <p:nvPr/>
        </p:nvSpPr>
        <p:spPr>
          <a:xfrm>
            <a:off x="8823960" y="4142232"/>
            <a:ext cx="2834640" cy="411480"/>
          </a:xfrm>
          <a:prstGeom prst="rect">
            <a:avLst/>
          </a:prstGeom>
          <a:noFill/>
          <a:ln/>
        </p:spPr>
        <p:txBody>
          <a:bodyPr wrap="square" lIns="0" tIns="0" rIns="0" bIns="0" rtlCol="0" anchor="t"/>
          <a:lstStyle/>
          <a:p>
            <a:pPr indent="0" marL="0">
              <a:buNone/>
            </a:pPr>
            <a:r>
              <a:rPr lang="en-US" sz="1800" b="1" dirty="0">
                <a:solidFill>
                  <a:schemeClr val="bg1"/>
                </a:solidFill>
              </a:rPr>
              <a:t>The trace proves it</a:t>
            </a:r>
            <a:endParaRPr lang="en-US" sz="1800" dirty="0"/>
          </a:p>
        </p:txBody>
      </p:sp>
      <p:sp>
        <p:nvSpPr>
          <p:cNvPr id="22" name="Text 19"/>
          <p:cNvSpPr txBox="1"/>
          <p:nvPr/>
        </p:nvSpPr>
        <p:spPr>
          <a:xfrm>
            <a:off x="8823960" y="4572000"/>
            <a:ext cx="2834640" cy="822960"/>
          </a:xfrm>
          <a:prstGeom prst="rect">
            <a:avLst/>
          </a:prstGeom>
          <a:noFill/>
          <a:ln/>
        </p:spPr>
        <p:txBody>
          <a:bodyPr wrap="square" lIns="0" tIns="0" rIns="0" bIns="0" rtlCol="0" anchor="t"/>
          <a:lstStyle/>
          <a:p>
            <a:pPr indent="0" marL="0">
              <a:buNone/>
            </a:pPr>
            <a:r>
              <a:rPr lang="en-US" sz="1400" dirty="0">
                <a:solidFill>
                  <a:schemeClr val="bg2"/>
                </a:solidFill>
              </a:rPr>
              <a:t>0 customer records and 0 personal values reached the model</a:t>
            </a:r>
            <a:endParaRPr lang="en-US" sz="1400" dirty="0"/>
          </a:p>
        </p:txBody>
      </p:sp>
      <p:sp>
        <p:nvSpPr>
          <p:cNvPr id="23" name="Text 20"/>
          <p:cNvSpPr txBox="1"/>
          <p:nvPr/>
        </p:nvSpPr>
        <p:spPr>
          <a:xfrm>
            <a:off x="8211312" y="5532120"/>
            <a:ext cx="3429000" cy="548640"/>
          </a:xfrm>
          <a:prstGeom prst="rect">
            <a:avLst/>
          </a:prstGeom>
          <a:noFill/>
          <a:ln/>
        </p:spPr>
        <p:txBody>
          <a:bodyPr wrap="square" lIns="0" tIns="0" rIns="0" bIns="0" rtlCol="0" anchor="t"/>
          <a:lstStyle/>
          <a:p>
            <a:pPr indent="0" marL="0">
              <a:buNone/>
            </a:pPr>
            <a:r>
              <a:rPr lang="en-US" sz="1200" i="1" dirty="0">
                <a:solidFill>
                  <a:schemeClr val="bg2"/>
                </a:solidFill>
              </a:rPr>
              <a:t>Screenshot of the running app, live mode (gpt-4.1-mini). Offline deterministic mode runs the same enforcement.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The answer was delivered. The extra data was not.</a:t>
            </a:r>
            <a:endParaRPr lang="en-US" sz="3400" dirty="0"/>
          </a:p>
        </p:txBody>
      </p:sp>
      <p:sp>
        <p:nvSpPr>
          <p:cNvPr id="3" name="chart card"/>
          <p:cNvSpPr/>
          <p:nvPr/>
        </p:nvSpPr>
        <p:spPr>
          <a:xfrm>
            <a:off x="548640" y="1325880"/>
            <a:ext cx="6035040" cy="4434840"/>
          </a:xfrm>
          <a:prstGeom prst="roundRect">
            <a:avLst>
              <a:gd name="adj" fmla="val 2474"/>
            </a:avLst>
          </a:prstGeom>
          <a:solidFill>
            <a:schemeClr val="tx2"/>
          </a:solidFill>
          <a:ln w="12700">
            <a:solidFill>
              <a:srgbClr val="2A3A55"/>
            </a:solidFill>
            <a:prstDash val="solid"/>
          </a:ln>
        </p:spPr>
      </p:sp>
      <p:graphicFrame>
        <p:nvGraphicFramePr>
          <p:cNvPr id="4" name="evidence chart" descr=""/>
          <p:cNvGraphicFramePr/>
          <p:nvPr/>
        </p:nvGraphicFramePr>
        <p:xfrm>
          <a:off x="731520" y="1463040"/>
          <a:ext cx="5669280" cy="4160520"/>
        </p:xfrm>
        <a:graphic xmlns:a="http://schemas.openxmlformats.org/drawingml/2006/main">
          <a:graphicData uri="http://schemas.openxmlformats.org/drawingml/2006/chart">
            <c:chart xmlns:c="http://schemas.openxmlformats.org/drawingml/2006/chart" r:id="rId1"/>
          </a:graphicData>
        </a:graphic>
      </p:graphicFrame>
      <p:sp>
        <p:nvSpPr>
          <p:cNvPr id="5" name="stat 1"/>
          <p:cNvSpPr/>
          <p:nvPr/>
        </p:nvSpPr>
        <p:spPr>
          <a:xfrm>
            <a:off x="6812280" y="1325880"/>
            <a:ext cx="2331720" cy="1691640"/>
          </a:xfrm>
          <a:prstGeom prst="roundRect">
            <a:avLst>
              <a:gd name="adj" fmla="val 6486"/>
            </a:avLst>
          </a:prstGeom>
          <a:solidFill>
            <a:schemeClr val="tx2"/>
          </a:solidFill>
          <a:ln w="12700">
            <a:solidFill>
              <a:srgbClr val="2A3A55"/>
            </a:solidFill>
            <a:prstDash val="solid"/>
          </a:ln>
        </p:spPr>
      </p:sp>
      <p:sp>
        <p:nvSpPr>
          <p:cNvPr id="6" name="Text 3"/>
          <p:cNvSpPr txBox="1"/>
          <p:nvPr/>
        </p:nvSpPr>
        <p:spPr>
          <a:xfrm>
            <a:off x="6995160" y="1463040"/>
            <a:ext cx="2011680" cy="685800"/>
          </a:xfrm>
          <a:prstGeom prst="rect">
            <a:avLst/>
          </a:prstGeom>
          <a:noFill/>
          <a:ln/>
        </p:spPr>
        <p:txBody>
          <a:bodyPr wrap="square" lIns="0" tIns="0" rIns="0" bIns="0" rtlCol="0" anchor="t"/>
          <a:lstStyle/>
          <a:p>
            <a:pPr indent="0" marL="0">
              <a:buNone/>
            </a:pPr>
            <a:r>
              <a:rPr lang="en-US" sz="3600" b="1" dirty="0">
                <a:solidFill>
                  <a:schemeClr val="accent1"/>
                </a:solidFill>
              </a:rPr>
              <a:t>4</a:t>
            </a:r>
            <a:endParaRPr lang="en-US" sz="3600" dirty="0"/>
          </a:p>
        </p:txBody>
      </p:sp>
      <p:sp>
        <p:nvSpPr>
          <p:cNvPr id="7" name="Text 4"/>
          <p:cNvSpPr txBox="1"/>
          <p:nvPr/>
        </p:nvSpPr>
        <p:spPr>
          <a:xfrm>
            <a:off x="6995160" y="2148840"/>
            <a:ext cx="2011680" cy="777240"/>
          </a:xfrm>
          <a:prstGeom prst="rect">
            <a:avLst/>
          </a:prstGeom>
          <a:noFill/>
          <a:ln/>
        </p:spPr>
        <p:txBody>
          <a:bodyPr wrap="square" lIns="0" tIns="0" rIns="0" bIns="0" rtlCol="0" anchor="t"/>
          <a:lstStyle/>
          <a:p>
            <a:pPr indent="0" marL="0">
              <a:buNone/>
            </a:pPr>
            <a:r>
              <a:rPr lang="en-US" sz="1300" dirty="0">
                <a:solidFill>
                  <a:schemeClr val="bg1"/>
                </a:solidFill>
              </a:rPr>
              <a:t>aggregate rows delivered; totals match independent SQL</a:t>
            </a:r>
            <a:endParaRPr lang="en-US" sz="1300" dirty="0"/>
          </a:p>
        </p:txBody>
      </p:sp>
      <p:sp>
        <p:nvSpPr>
          <p:cNvPr id="8" name="stat 2"/>
          <p:cNvSpPr/>
          <p:nvPr/>
        </p:nvSpPr>
        <p:spPr>
          <a:xfrm>
            <a:off x="9281160" y="1325880"/>
            <a:ext cx="2331720" cy="1691640"/>
          </a:xfrm>
          <a:prstGeom prst="roundRect">
            <a:avLst>
              <a:gd name="adj" fmla="val 6486"/>
            </a:avLst>
          </a:prstGeom>
          <a:solidFill>
            <a:schemeClr val="tx2"/>
          </a:solidFill>
          <a:ln w="12700">
            <a:solidFill>
              <a:srgbClr val="2A3A55"/>
            </a:solidFill>
            <a:prstDash val="solid"/>
          </a:ln>
        </p:spPr>
      </p:sp>
      <p:sp>
        <p:nvSpPr>
          <p:cNvPr id="9" name="Text 6"/>
          <p:cNvSpPr txBox="1"/>
          <p:nvPr/>
        </p:nvSpPr>
        <p:spPr>
          <a:xfrm>
            <a:off x="9464040" y="1463040"/>
            <a:ext cx="2011680" cy="685800"/>
          </a:xfrm>
          <a:prstGeom prst="rect">
            <a:avLst/>
          </a:prstGeom>
          <a:noFill/>
          <a:ln/>
        </p:spPr>
        <p:txBody>
          <a:bodyPr wrap="square" lIns="0" tIns="0" rIns="0" bIns="0" rtlCol="0" anchor="t"/>
          <a:lstStyle/>
          <a:p>
            <a:pPr indent="0" marL="0">
              <a:buNone/>
            </a:pPr>
            <a:r>
              <a:rPr lang="en-US" sz="3600" b="1" dirty="0">
                <a:solidFill>
                  <a:schemeClr val="accent1"/>
                </a:solidFill>
              </a:rPr>
              <a:t>Done</a:t>
            </a:r>
            <a:endParaRPr lang="en-US" sz="3600" dirty="0"/>
          </a:p>
        </p:txBody>
      </p:sp>
      <p:sp>
        <p:nvSpPr>
          <p:cNvPr id="10" name="Text 7"/>
          <p:cNvSpPr txBox="1"/>
          <p:nvPr/>
        </p:nvSpPr>
        <p:spPr>
          <a:xfrm>
            <a:off x="9464040" y="2148840"/>
            <a:ext cx="2011680" cy="777240"/>
          </a:xfrm>
          <a:prstGeom prst="rect">
            <a:avLst/>
          </a:prstGeom>
          <a:noFill/>
          <a:ln/>
        </p:spPr>
        <p:txBody>
          <a:bodyPr wrap="square" lIns="0" tIns="0" rIns="0" bIns="0" rtlCol="0" anchor="t"/>
          <a:lstStyle/>
          <a:p>
            <a:pPr indent="0" marL="0">
              <a:buNone/>
            </a:pPr>
            <a:r>
              <a:rPr lang="en-US" sz="1300" dirty="0">
                <a:solidFill>
                  <a:schemeClr val="bg1"/>
                </a:solidFill>
              </a:rPr>
              <a:t>task completed with a verified MCP round-trip</a:t>
            </a:r>
            <a:endParaRPr lang="en-US" sz="1300" dirty="0"/>
          </a:p>
        </p:txBody>
      </p:sp>
      <p:sp>
        <p:nvSpPr>
          <p:cNvPr id="11" name="stat 3"/>
          <p:cNvSpPr/>
          <p:nvPr/>
        </p:nvSpPr>
        <p:spPr>
          <a:xfrm>
            <a:off x="6812280" y="3154680"/>
            <a:ext cx="2331720" cy="1691640"/>
          </a:xfrm>
          <a:prstGeom prst="roundRect">
            <a:avLst>
              <a:gd name="adj" fmla="val 6486"/>
            </a:avLst>
          </a:prstGeom>
          <a:solidFill>
            <a:schemeClr val="tx2"/>
          </a:solidFill>
          <a:ln w="12700">
            <a:solidFill>
              <a:srgbClr val="2A3A55"/>
            </a:solidFill>
            <a:prstDash val="solid"/>
          </a:ln>
        </p:spPr>
      </p:sp>
      <p:sp>
        <p:nvSpPr>
          <p:cNvPr id="12" name="Text 9"/>
          <p:cNvSpPr txBox="1"/>
          <p:nvPr/>
        </p:nvSpPr>
        <p:spPr>
          <a:xfrm>
            <a:off x="6995160" y="3291840"/>
            <a:ext cx="2011680" cy="685800"/>
          </a:xfrm>
          <a:prstGeom prst="rect">
            <a:avLst/>
          </a:prstGeom>
          <a:noFill/>
          <a:ln/>
        </p:spPr>
        <p:txBody>
          <a:bodyPr wrap="square" lIns="0" tIns="0" rIns="0" bIns="0" rtlCol="0" anchor="t"/>
          <a:lstStyle/>
          <a:p>
            <a:pPr indent="0" marL="0">
              <a:buNone/>
            </a:pPr>
            <a:r>
              <a:rPr lang="en-US" sz="3600" b="1" dirty="0">
                <a:solidFill>
                  <a:schemeClr val="accent1"/>
                </a:solidFill>
              </a:rPr>
              <a:t>0</a:t>
            </a:r>
            <a:endParaRPr lang="en-US" sz="3600" dirty="0"/>
          </a:p>
        </p:txBody>
      </p:sp>
      <p:sp>
        <p:nvSpPr>
          <p:cNvPr id="13" name="Text 10"/>
          <p:cNvSpPr txBox="1"/>
          <p:nvPr/>
        </p:nvSpPr>
        <p:spPr>
          <a:xfrm>
            <a:off x="6995160" y="3977640"/>
            <a:ext cx="2011680" cy="777240"/>
          </a:xfrm>
          <a:prstGeom prst="rect">
            <a:avLst/>
          </a:prstGeom>
          <a:noFill/>
          <a:ln/>
        </p:spPr>
        <p:txBody>
          <a:bodyPr wrap="square" lIns="0" tIns="0" rIns="0" bIns="0" rtlCol="0" anchor="t"/>
          <a:lstStyle/>
          <a:p>
            <a:pPr indent="0" marL="0">
              <a:buNone/>
            </a:pPr>
            <a:r>
              <a:rPr lang="en-US" sz="1300" dirty="0">
                <a:solidFill>
                  <a:schemeClr val="bg1"/>
                </a:solidFill>
              </a:rPr>
              <a:t>canary hits in 7 model-bound payloads scanned</a:t>
            </a:r>
            <a:endParaRPr lang="en-US" sz="1300" dirty="0"/>
          </a:p>
        </p:txBody>
      </p:sp>
      <p:sp>
        <p:nvSpPr>
          <p:cNvPr id="14" name="stat 4"/>
          <p:cNvSpPr/>
          <p:nvPr/>
        </p:nvSpPr>
        <p:spPr>
          <a:xfrm>
            <a:off x="9281160" y="3154680"/>
            <a:ext cx="2331720" cy="1691640"/>
          </a:xfrm>
          <a:prstGeom prst="roundRect">
            <a:avLst>
              <a:gd name="adj" fmla="val 6486"/>
            </a:avLst>
          </a:prstGeom>
          <a:solidFill>
            <a:schemeClr val="tx2"/>
          </a:solidFill>
          <a:ln w="12700">
            <a:solidFill>
              <a:srgbClr val="2A3A55"/>
            </a:solidFill>
            <a:prstDash val="solid"/>
          </a:ln>
        </p:spPr>
      </p:sp>
      <p:sp>
        <p:nvSpPr>
          <p:cNvPr id="15" name="Text 12"/>
          <p:cNvSpPr txBox="1"/>
          <p:nvPr/>
        </p:nvSpPr>
        <p:spPr>
          <a:xfrm>
            <a:off x="9464040" y="3291840"/>
            <a:ext cx="2011680" cy="685800"/>
          </a:xfrm>
          <a:prstGeom prst="rect">
            <a:avLst/>
          </a:prstGeom>
          <a:noFill/>
          <a:ln/>
        </p:spPr>
        <p:txBody>
          <a:bodyPr wrap="square" lIns="0" tIns="0" rIns="0" bIns="0" rtlCol="0" anchor="t"/>
          <a:lstStyle/>
          <a:p>
            <a:pPr indent="0" marL="0">
              <a:buNone/>
            </a:pPr>
            <a:r>
              <a:rPr lang="en-US" sz="3600" b="1" dirty="0">
                <a:solidFill>
                  <a:schemeClr val="accent3"/>
                </a:solidFill>
              </a:rPr>
              <a:t>4/4</a:t>
            </a:r>
            <a:endParaRPr lang="en-US" sz="3600" dirty="0"/>
          </a:p>
        </p:txBody>
      </p:sp>
      <p:sp>
        <p:nvSpPr>
          <p:cNvPr id="16" name="Text 13"/>
          <p:cNvSpPr txBox="1"/>
          <p:nvPr/>
        </p:nvSpPr>
        <p:spPr>
          <a:xfrm>
            <a:off x="9464040" y="3977640"/>
            <a:ext cx="2011680" cy="777240"/>
          </a:xfrm>
          <a:prstGeom prst="rect">
            <a:avLst/>
          </a:prstGeom>
          <a:noFill/>
          <a:ln/>
        </p:spPr>
        <p:txBody>
          <a:bodyPr wrap="square" lIns="0" tIns="0" rIns="0" bIns="0" rtlCol="0" anchor="t"/>
          <a:lstStyle/>
          <a:p>
            <a:pPr indent="0" marL="0">
              <a:buNone/>
            </a:pPr>
            <a:r>
              <a:rPr lang="en-US" sz="1300" dirty="0">
                <a:solidFill>
                  <a:schemeClr val="bg1"/>
                </a:solidFill>
              </a:rPr>
              <a:t>tampered agent calls denied; 0 prohibited upstream dispatches</a:t>
            </a:r>
            <a:endParaRPr lang="en-US" sz="1300" dirty="0"/>
          </a:p>
        </p:txBody>
      </p:sp>
      <p:sp>
        <p:nvSpPr>
          <p:cNvPr id="17" name="tests"/>
          <p:cNvSpPr/>
          <p:nvPr/>
        </p:nvSpPr>
        <p:spPr>
          <a:xfrm>
            <a:off x="6812280" y="4983480"/>
            <a:ext cx="4800600" cy="777240"/>
          </a:xfrm>
          <a:prstGeom prst="roundRect">
            <a:avLst>
              <a:gd name="adj" fmla="val 14118"/>
            </a:avLst>
          </a:prstGeom>
          <a:solidFill>
            <a:schemeClr val="tx2"/>
          </a:solidFill>
          <a:ln w="12700">
            <a:solidFill>
              <a:srgbClr val="2A3A55"/>
            </a:solidFill>
            <a:prstDash val="solid"/>
          </a:ln>
        </p:spPr>
      </p:sp>
      <p:sp>
        <p:nvSpPr>
          <p:cNvPr id="18" name="Shape 15"/>
          <p:cNvSpPr/>
          <p:nvPr/>
        </p:nvSpPr>
        <p:spPr>
          <a:xfrm>
            <a:off x="6967728" y="5120640"/>
            <a:ext cx="502920" cy="502920"/>
          </a:xfrm>
          <a:prstGeom prst="roundRect">
            <a:avLst>
              <a:gd name="adj" fmla="val 25455"/>
            </a:avLst>
          </a:prstGeom>
          <a:solidFill>
            <a:schemeClr val="accent1">
              <a:alpha val="18000"/>
            </a:schemeClr>
          </a:solidFill>
          <a:ln w="12700">
            <a:solidFill>
              <a:schemeClr val="accent1">
                <a:alpha val="60000"/>
              </a:schemeClr>
            </a:solidFill>
            <a:prstDash val="solid"/>
          </a:ln>
        </p:spPr>
      </p:sp>
      <p:pic>
        <p:nvPicPr>
          <p:cNvPr id="19" name="Image 0" descr="check">    </p:cNvPr>
          <p:cNvPicPr>
            <a:picLocks noChangeAspect="1"/>
          </p:cNvPicPr>
          <p:nvPr/>
        </p:nvPicPr>
        <p:blipFill>
          <a:blip r:embed="rId2"/>
          <a:stretch>
            <a:fillRect/>
          </a:stretch>
        </p:blipFill>
        <p:spPr>
          <a:xfrm>
            <a:off x="7058254" y="5211166"/>
            <a:ext cx="321869" cy="321869"/>
          </a:xfrm>
          <a:prstGeom prst="rect">
            <a:avLst/>
          </a:prstGeom>
        </p:spPr>
      </p:pic>
      <p:sp>
        <p:nvSpPr>
          <p:cNvPr id="20" name="Text 16"/>
          <p:cNvSpPr txBox="1"/>
          <p:nvPr/>
        </p:nvSpPr>
        <p:spPr>
          <a:xfrm>
            <a:off x="7635240" y="4983480"/>
            <a:ext cx="3886200" cy="777240"/>
          </a:xfrm>
          <a:prstGeom prst="rect">
            <a:avLst/>
          </a:prstGeom>
          <a:noFill/>
          <a:ln/>
        </p:spPr>
        <p:txBody>
          <a:bodyPr wrap="square" lIns="0" tIns="0" rIns="0" bIns="0" rtlCol="0" anchor="ctr"/>
          <a:lstStyle/>
          <a:p>
            <a:pPr indent="0" marL="0">
              <a:buNone/>
            </a:pPr>
            <a:r>
              <a:rPr lang="en-US" sz="1500" b="1" dirty="0">
                <a:solidFill>
                  <a:schemeClr val="bg1"/>
                </a:solidFill>
              </a:rPr>
              <a:t>137/137 Python tests · 7/7 browser E2E passed</a:t>
            </a:r>
            <a:endParaRPr lang="en-US" sz="1500" dirty="0"/>
          </a:p>
        </p:txBody>
      </p:sp>
      <p:sp>
        <p:nvSpPr>
          <p:cNvPr id="21" name="Text 17"/>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300" i="1" dirty="0">
                <a:solidFill>
                  <a:schemeClr val="bg2"/>
                </a:solidFill>
              </a:rPr>
              <a:t>Measured in a synthetic, task-scoped local demo; not a universal safety guarantee.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074920"/>
            <a:ext cx="11091672" cy="868680"/>
          </a:xfrm>
          <a:prstGeom prst="rect">
            <a:avLst/>
          </a:prstGeom>
          <a:noFill/>
          <a:ln/>
        </p:spPr>
        <p:txBody>
          <a:bodyPr wrap="square" lIns="0" tIns="0" rIns="0" bIns="0" rtlCol="0" anchor="ctr"/>
          <a:lstStyle/>
          <a:p>
            <a:pPr algn="l" indent="0" marL="0">
              <a:buNone/>
            </a:pPr>
            <a:r>
              <a:rPr lang="en-US" sz="3600" b="1" dirty="0">
                <a:solidFill>
                  <a:schemeClr val="accent1"/>
                </a:solidFill>
              </a:rPr>
              <a:t>Don't give agents more data. Give them a safer route.</a:t>
            </a:r>
            <a:endParaRPr lang="en-US" sz="3600" dirty="0"/>
          </a:p>
        </p:txBody>
      </p:sp>
      <p:sp>
        <p:nvSpPr>
          <p:cNvPr id="3" name="Text 1"/>
          <p:cNvSpPr txBox="1"/>
          <p:nvPr/>
        </p:nvSpPr>
        <p:spPr>
          <a:xfrm>
            <a:off x="548640" y="457200"/>
            <a:ext cx="5486400" cy="411480"/>
          </a:xfrm>
          <a:prstGeom prst="rect">
            <a:avLst/>
          </a:prstGeom>
          <a:noFill/>
          <a:ln/>
        </p:spPr>
        <p:txBody>
          <a:bodyPr wrap="square" lIns="0" tIns="0" rIns="0" bIns="0" rtlCol="0" anchor="t"/>
          <a:lstStyle/>
          <a:p>
            <a:pPr indent="0" marL="0">
              <a:buNone/>
            </a:pPr>
            <a:r>
              <a:rPr lang="en-US" sz="2000" b="1" dirty="0">
                <a:solidFill>
                  <a:schemeClr val="bg2"/>
                </a:solidFill>
              </a:rPr>
              <a:t>Who it is for</a:t>
            </a:r>
            <a:endParaRPr lang="en-US" sz="2000" dirty="0"/>
          </a:p>
        </p:txBody>
      </p:sp>
      <p:sp>
        <p:nvSpPr>
          <p:cNvPr id="4" name="user 1"/>
          <p:cNvSpPr/>
          <p:nvPr/>
        </p:nvSpPr>
        <p:spPr>
          <a:xfrm>
            <a:off x="548640" y="960120"/>
            <a:ext cx="2651760" cy="1737360"/>
          </a:xfrm>
          <a:prstGeom prst="roundRect">
            <a:avLst>
              <a:gd name="adj" fmla="val 6316"/>
            </a:avLst>
          </a:prstGeom>
          <a:solidFill>
            <a:schemeClr val="tx2"/>
          </a:solidFill>
          <a:ln w="12700">
            <a:solidFill>
              <a:srgbClr val="2A3A55"/>
            </a:solidFill>
            <a:prstDash val="solid"/>
          </a:ln>
        </p:spPr>
      </p:sp>
      <p:sp>
        <p:nvSpPr>
          <p:cNvPr id="5" name="Shape 3"/>
          <p:cNvSpPr/>
          <p:nvPr/>
        </p:nvSpPr>
        <p:spPr>
          <a:xfrm>
            <a:off x="749808" y="1143000"/>
            <a:ext cx="530352" cy="530352"/>
          </a:xfrm>
          <a:prstGeom prst="roundRect">
            <a:avLst>
              <a:gd name="adj" fmla="val 24138"/>
            </a:avLst>
          </a:prstGeom>
          <a:solidFill>
            <a:schemeClr val="accent1">
              <a:alpha val="18000"/>
            </a:schemeClr>
          </a:solidFill>
          <a:ln w="12700">
            <a:solidFill>
              <a:schemeClr val="accent1">
                <a:alpha val="60000"/>
              </a:schemeClr>
            </a:solidFill>
            <a:prstDash val="solid"/>
          </a:ln>
        </p:spPr>
      </p:sp>
      <p:pic>
        <p:nvPicPr>
          <p:cNvPr id="6" name="Image 0" descr="building">    </p:cNvPr>
          <p:cNvPicPr>
            <a:picLocks noChangeAspect="1"/>
          </p:cNvPicPr>
          <p:nvPr/>
        </p:nvPicPr>
        <p:blipFill>
          <a:blip r:embed="rId1"/>
          <a:stretch>
            <a:fillRect/>
          </a:stretch>
        </p:blipFill>
        <p:spPr>
          <a:xfrm>
            <a:off x="845271" y="1238463"/>
            <a:ext cx="339425" cy="339425"/>
          </a:xfrm>
          <a:prstGeom prst="rect">
            <a:avLst/>
          </a:prstGeom>
        </p:spPr>
      </p:pic>
      <p:sp>
        <p:nvSpPr>
          <p:cNvPr id="7" name="Text 4"/>
          <p:cNvSpPr txBox="1"/>
          <p:nvPr/>
        </p:nvSpPr>
        <p:spPr>
          <a:xfrm>
            <a:off x="749808" y="1755648"/>
            <a:ext cx="2331720" cy="384048"/>
          </a:xfrm>
          <a:prstGeom prst="rect">
            <a:avLst/>
          </a:prstGeom>
          <a:noFill/>
          <a:ln/>
        </p:spPr>
        <p:txBody>
          <a:bodyPr wrap="square" lIns="0" tIns="0" rIns="0" bIns="0" rtlCol="0" anchor="t"/>
          <a:lstStyle/>
          <a:p>
            <a:pPr indent="0" marL="0">
              <a:buNone/>
            </a:pPr>
            <a:r>
              <a:rPr lang="en-US" sz="1700" b="1" dirty="0">
                <a:solidFill>
                  <a:schemeClr val="bg1"/>
                </a:solidFill>
              </a:rPr>
              <a:t>Enterprise AI builders</a:t>
            </a:r>
            <a:endParaRPr lang="en-US" sz="1700" dirty="0"/>
          </a:p>
        </p:txBody>
      </p:sp>
      <p:sp>
        <p:nvSpPr>
          <p:cNvPr id="8" name="Text 5"/>
          <p:cNvSpPr txBox="1"/>
          <p:nvPr/>
        </p:nvSpPr>
        <p:spPr>
          <a:xfrm>
            <a:off x="749808" y="2121408"/>
            <a:ext cx="2331720" cy="502920"/>
          </a:xfrm>
          <a:prstGeom prst="rect">
            <a:avLst/>
          </a:prstGeom>
          <a:noFill/>
          <a:ln/>
        </p:spPr>
        <p:txBody>
          <a:bodyPr wrap="square" lIns="0" tIns="0" rIns="0" bIns="0" rtlCol="0" anchor="t"/>
          <a:lstStyle/>
          <a:p>
            <a:pPr indent="0" marL="0">
              <a:buNone/>
            </a:pPr>
            <a:r>
              <a:rPr lang="en-US" sz="1300" dirty="0">
                <a:solidFill>
                  <a:schemeClr val="bg2"/>
                </a:solidFill>
              </a:rPr>
              <a:t>ship MCP agents without broad data grants</a:t>
            </a:r>
            <a:endParaRPr lang="en-US" sz="1300" dirty="0"/>
          </a:p>
        </p:txBody>
      </p:sp>
      <p:sp>
        <p:nvSpPr>
          <p:cNvPr id="9" name="user 2"/>
          <p:cNvSpPr/>
          <p:nvPr/>
        </p:nvSpPr>
        <p:spPr>
          <a:xfrm>
            <a:off x="3364992" y="960120"/>
            <a:ext cx="2651760" cy="1737360"/>
          </a:xfrm>
          <a:prstGeom prst="roundRect">
            <a:avLst>
              <a:gd name="adj" fmla="val 6316"/>
            </a:avLst>
          </a:prstGeom>
          <a:solidFill>
            <a:schemeClr val="tx2"/>
          </a:solidFill>
          <a:ln w="12700">
            <a:solidFill>
              <a:srgbClr val="2A3A55"/>
            </a:solidFill>
            <a:prstDash val="solid"/>
          </a:ln>
        </p:spPr>
      </p:sp>
      <p:sp>
        <p:nvSpPr>
          <p:cNvPr id="10" name="Shape 7"/>
          <p:cNvSpPr/>
          <p:nvPr/>
        </p:nvSpPr>
        <p:spPr>
          <a:xfrm>
            <a:off x="3566160" y="1143000"/>
            <a:ext cx="530352" cy="530352"/>
          </a:xfrm>
          <a:prstGeom prst="roundRect">
            <a:avLst>
              <a:gd name="adj" fmla="val 24138"/>
            </a:avLst>
          </a:prstGeom>
          <a:solidFill>
            <a:schemeClr val="accent1">
              <a:alpha val="18000"/>
            </a:schemeClr>
          </a:solidFill>
          <a:ln w="12700">
            <a:solidFill>
              <a:schemeClr val="accent1">
                <a:alpha val="60000"/>
              </a:schemeClr>
            </a:solidFill>
            <a:prstDash val="solid"/>
          </a:ln>
        </p:spPr>
      </p:sp>
      <p:pic>
        <p:nvPicPr>
          <p:cNvPr id="11" name="Image 1" descr="bank">    </p:cNvPr>
          <p:cNvPicPr>
            <a:picLocks noChangeAspect="1"/>
          </p:cNvPicPr>
          <p:nvPr/>
        </p:nvPicPr>
        <p:blipFill>
          <a:blip r:embed="rId2"/>
          <a:stretch>
            <a:fillRect/>
          </a:stretch>
        </p:blipFill>
        <p:spPr>
          <a:xfrm>
            <a:off x="3661623" y="1238463"/>
            <a:ext cx="339425" cy="339425"/>
          </a:xfrm>
          <a:prstGeom prst="rect">
            <a:avLst/>
          </a:prstGeom>
        </p:spPr>
      </p:pic>
      <p:sp>
        <p:nvSpPr>
          <p:cNvPr id="12" name="Text 8"/>
          <p:cNvSpPr txBox="1"/>
          <p:nvPr/>
        </p:nvSpPr>
        <p:spPr>
          <a:xfrm>
            <a:off x="3566160" y="1755648"/>
            <a:ext cx="2331720" cy="384048"/>
          </a:xfrm>
          <a:prstGeom prst="rect">
            <a:avLst/>
          </a:prstGeom>
          <a:noFill/>
          <a:ln/>
        </p:spPr>
        <p:txBody>
          <a:bodyPr wrap="square" lIns="0" tIns="0" rIns="0" bIns="0" rtlCol="0" anchor="t"/>
          <a:lstStyle/>
          <a:p>
            <a:pPr indent="0" marL="0">
              <a:buNone/>
            </a:pPr>
            <a:r>
              <a:rPr lang="en-US" sz="1700" b="1" dirty="0">
                <a:solidFill>
                  <a:schemeClr val="bg1"/>
                </a:solidFill>
              </a:rPr>
              <a:t>Banks and fintech</a:t>
            </a:r>
            <a:endParaRPr lang="en-US" sz="1700" dirty="0"/>
          </a:p>
        </p:txBody>
      </p:sp>
      <p:sp>
        <p:nvSpPr>
          <p:cNvPr id="13" name="Text 9"/>
          <p:cNvSpPr txBox="1"/>
          <p:nvPr/>
        </p:nvSpPr>
        <p:spPr>
          <a:xfrm>
            <a:off x="3566160" y="2121408"/>
            <a:ext cx="2331720" cy="502920"/>
          </a:xfrm>
          <a:prstGeom prst="rect">
            <a:avLst/>
          </a:prstGeom>
          <a:noFill/>
          <a:ln/>
        </p:spPr>
        <p:txBody>
          <a:bodyPr wrap="square" lIns="0" tIns="0" rIns="0" bIns="0" rtlCol="0" anchor="t"/>
          <a:lstStyle/>
          <a:p>
            <a:pPr indent="0" marL="0">
              <a:buNone/>
            </a:pPr>
            <a:r>
              <a:rPr lang="en-US" sz="1300" dirty="0">
                <a:solidFill>
                  <a:schemeClr val="bg2"/>
                </a:solidFill>
              </a:rPr>
              <a:t>keep secrets and PII out of model context</a:t>
            </a:r>
            <a:endParaRPr lang="en-US" sz="1300" dirty="0"/>
          </a:p>
        </p:txBody>
      </p:sp>
      <p:sp>
        <p:nvSpPr>
          <p:cNvPr id="14" name="user 3"/>
          <p:cNvSpPr/>
          <p:nvPr/>
        </p:nvSpPr>
        <p:spPr>
          <a:xfrm>
            <a:off x="6181344" y="960120"/>
            <a:ext cx="2651760" cy="1737360"/>
          </a:xfrm>
          <a:prstGeom prst="roundRect">
            <a:avLst>
              <a:gd name="adj" fmla="val 6316"/>
            </a:avLst>
          </a:prstGeom>
          <a:solidFill>
            <a:schemeClr val="tx2"/>
          </a:solidFill>
          <a:ln w="12700">
            <a:solidFill>
              <a:srgbClr val="2A3A55"/>
            </a:solidFill>
            <a:prstDash val="solid"/>
          </a:ln>
        </p:spPr>
      </p:sp>
      <p:sp>
        <p:nvSpPr>
          <p:cNvPr id="15" name="Shape 11"/>
          <p:cNvSpPr/>
          <p:nvPr/>
        </p:nvSpPr>
        <p:spPr>
          <a:xfrm>
            <a:off x="6382512" y="1143000"/>
            <a:ext cx="530352" cy="530352"/>
          </a:xfrm>
          <a:prstGeom prst="roundRect">
            <a:avLst>
              <a:gd name="adj" fmla="val 24138"/>
            </a:avLst>
          </a:prstGeom>
          <a:solidFill>
            <a:schemeClr val="accent1">
              <a:alpha val="18000"/>
            </a:schemeClr>
          </a:solidFill>
          <a:ln w="12700">
            <a:solidFill>
              <a:schemeClr val="accent1">
                <a:alpha val="60000"/>
              </a:schemeClr>
            </a:solidFill>
            <a:prstDash val="solid"/>
          </a:ln>
        </p:spPr>
      </p:sp>
      <p:pic>
        <p:nvPicPr>
          <p:cNvPr id="16" name="Image 2" descr="headset">    </p:cNvPr>
          <p:cNvPicPr>
            <a:picLocks noChangeAspect="1"/>
          </p:cNvPicPr>
          <p:nvPr/>
        </p:nvPicPr>
        <p:blipFill>
          <a:blip r:embed="rId3"/>
          <a:stretch>
            <a:fillRect/>
          </a:stretch>
        </p:blipFill>
        <p:spPr>
          <a:xfrm>
            <a:off x="6477975" y="1238463"/>
            <a:ext cx="339425" cy="339425"/>
          </a:xfrm>
          <a:prstGeom prst="rect">
            <a:avLst/>
          </a:prstGeom>
        </p:spPr>
      </p:pic>
      <p:sp>
        <p:nvSpPr>
          <p:cNvPr id="17" name="Text 12"/>
          <p:cNvSpPr txBox="1"/>
          <p:nvPr/>
        </p:nvSpPr>
        <p:spPr>
          <a:xfrm>
            <a:off x="6382512" y="1755648"/>
            <a:ext cx="2331720" cy="384048"/>
          </a:xfrm>
          <a:prstGeom prst="rect">
            <a:avLst/>
          </a:prstGeom>
          <a:noFill/>
          <a:ln/>
        </p:spPr>
        <p:txBody>
          <a:bodyPr wrap="square" lIns="0" tIns="0" rIns="0" bIns="0" rtlCol="0" anchor="t"/>
          <a:lstStyle/>
          <a:p>
            <a:pPr indent="0" marL="0">
              <a:buNone/>
            </a:pPr>
            <a:r>
              <a:rPr lang="en-US" sz="1700" b="1" dirty="0">
                <a:solidFill>
                  <a:schemeClr val="bg1"/>
                </a:solidFill>
              </a:rPr>
              <a:t>Customer support</a:t>
            </a:r>
            <a:endParaRPr lang="en-US" sz="1700" dirty="0"/>
          </a:p>
        </p:txBody>
      </p:sp>
      <p:sp>
        <p:nvSpPr>
          <p:cNvPr id="18" name="Text 13"/>
          <p:cNvSpPr txBox="1"/>
          <p:nvPr/>
        </p:nvSpPr>
        <p:spPr>
          <a:xfrm>
            <a:off x="6382512" y="2121408"/>
            <a:ext cx="2331720" cy="502920"/>
          </a:xfrm>
          <a:prstGeom prst="rect">
            <a:avLst/>
          </a:prstGeom>
          <a:noFill/>
          <a:ln/>
        </p:spPr>
        <p:txBody>
          <a:bodyPr wrap="square" lIns="0" tIns="0" rIns="0" bIns="0" rtlCol="0" anchor="t"/>
          <a:lstStyle/>
          <a:p>
            <a:pPr indent="0" marL="0">
              <a:buNone/>
            </a:pPr>
            <a:r>
              <a:rPr lang="en-US" sz="1300" dirty="0">
                <a:solidFill>
                  <a:schemeClr val="bg2"/>
                </a:solidFill>
              </a:rPr>
              <a:t>one field, one customer, approved once</a:t>
            </a:r>
            <a:endParaRPr lang="en-US" sz="1300" dirty="0"/>
          </a:p>
        </p:txBody>
      </p:sp>
      <p:sp>
        <p:nvSpPr>
          <p:cNvPr id="19" name="user 4"/>
          <p:cNvSpPr/>
          <p:nvPr/>
        </p:nvSpPr>
        <p:spPr>
          <a:xfrm>
            <a:off x="8997696" y="960120"/>
            <a:ext cx="2651760" cy="1737360"/>
          </a:xfrm>
          <a:prstGeom prst="roundRect">
            <a:avLst>
              <a:gd name="adj" fmla="val 6316"/>
            </a:avLst>
          </a:prstGeom>
          <a:solidFill>
            <a:schemeClr val="tx2"/>
          </a:solidFill>
          <a:ln w="12700">
            <a:solidFill>
              <a:srgbClr val="2A3A55"/>
            </a:solidFill>
            <a:prstDash val="solid"/>
          </a:ln>
        </p:spPr>
      </p:sp>
      <p:sp>
        <p:nvSpPr>
          <p:cNvPr id="20" name="Shape 15"/>
          <p:cNvSpPr/>
          <p:nvPr/>
        </p:nvSpPr>
        <p:spPr>
          <a:xfrm>
            <a:off x="9198864" y="1143000"/>
            <a:ext cx="530352" cy="530352"/>
          </a:xfrm>
          <a:prstGeom prst="roundRect">
            <a:avLst>
              <a:gd name="adj" fmla="val 24138"/>
            </a:avLst>
          </a:prstGeom>
          <a:solidFill>
            <a:schemeClr val="accent1">
              <a:alpha val="18000"/>
            </a:schemeClr>
          </a:solidFill>
          <a:ln w="12700">
            <a:solidFill>
              <a:schemeClr val="accent1">
                <a:alpha val="60000"/>
              </a:schemeClr>
            </a:solidFill>
            <a:prstDash val="solid"/>
          </a:ln>
        </p:spPr>
      </p:sp>
      <p:pic>
        <p:nvPicPr>
          <p:cNvPr id="21" name="Image 3" descr="chart">    </p:cNvPr>
          <p:cNvPicPr>
            <a:picLocks noChangeAspect="1"/>
          </p:cNvPicPr>
          <p:nvPr/>
        </p:nvPicPr>
        <p:blipFill>
          <a:blip r:embed="rId4"/>
          <a:stretch>
            <a:fillRect/>
          </a:stretch>
        </p:blipFill>
        <p:spPr>
          <a:xfrm>
            <a:off x="9294327" y="1238463"/>
            <a:ext cx="339425" cy="339425"/>
          </a:xfrm>
          <a:prstGeom prst="rect">
            <a:avLst/>
          </a:prstGeom>
        </p:spPr>
      </p:pic>
      <p:sp>
        <p:nvSpPr>
          <p:cNvPr id="22" name="Text 16"/>
          <p:cNvSpPr txBox="1"/>
          <p:nvPr/>
        </p:nvSpPr>
        <p:spPr>
          <a:xfrm>
            <a:off x="9198864" y="1755648"/>
            <a:ext cx="2331720" cy="384048"/>
          </a:xfrm>
          <a:prstGeom prst="rect">
            <a:avLst/>
          </a:prstGeom>
          <a:noFill/>
          <a:ln/>
        </p:spPr>
        <p:txBody>
          <a:bodyPr wrap="square" lIns="0" tIns="0" rIns="0" bIns="0" rtlCol="0" anchor="t"/>
          <a:lstStyle/>
          <a:p>
            <a:pPr indent="0" marL="0">
              <a:buNone/>
            </a:pPr>
            <a:r>
              <a:rPr lang="en-US" sz="1700" b="1" dirty="0">
                <a:solidFill>
                  <a:schemeClr val="bg1"/>
                </a:solidFill>
              </a:rPr>
              <a:t>Analytics teams</a:t>
            </a:r>
            <a:endParaRPr lang="en-US" sz="1700" dirty="0"/>
          </a:p>
        </p:txBody>
      </p:sp>
      <p:sp>
        <p:nvSpPr>
          <p:cNvPr id="23" name="Text 17"/>
          <p:cNvSpPr txBox="1"/>
          <p:nvPr/>
        </p:nvSpPr>
        <p:spPr>
          <a:xfrm>
            <a:off x="9198864" y="2121408"/>
            <a:ext cx="2331720" cy="502920"/>
          </a:xfrm>
          <a:prstGeom prst="rect">
            <a:avLst/>
          </a:prstGeom>
          <a:noFill/>
          <a:ln/>
        </p:spPr>
        <p:txBody>
          <a:bodyPr wrap="square" lIns="0" tIns="0" rIns="0" bIns="0" rtlCol="0" anchor="t"/>
          <a:lstStyle/>
          <a:p>
            <a:pPr indent="0" marL="0">
              <a:buNone/>
            </a:pPr>
            <a:r>
              <a:rPr lang="en-US" sz="1300" dirty="0">
                <a:solidFill>
                  <a:schemeClr val="bg2"/>
                </a:solidFill>
              </a:rPr>
              <a:t>aggregate answers, not raw exports</a:t>
            </a:r>
            <a:endParaRPr lang="en-US" sz="1300" dirty="0"/>
          </a:p>
        </p:txBody>
      </p:sp>
      <p:sp>
        <p:nvSpPr>
          <p:cNvPr id="24" name="Text 18"/>
          <p:cNvSpPr txBox="1"/>
          <p:nvPr/>
        </p:nvSpPr>
        <p:spPr>
          <a:xfrm>
            <a:off x="548640" y="2971800"/>
            <a:ext cx="5486400" cy="411480"/>
          </a:xfrm>
          <a:prstGeom prst="rect">
            <a:avLst/>
          </a:prstGeom>
          <a:noFill/>
          <a:ln/>
        </p:spPr>
        <p:txBody>
          <a:bodyPr wrap="square" lIns="0" tIns="0" rIns="0" bIns="0" rtlCol="0" anchor="t"/>
          <a:lstStyle/>
          <a:p>
            <a:pPr indent="0" marL="0">
              <a:buNone/>
            </a:pPr>
            <a:r>
              <a:rPr lang="en-US" sz="2000" b="1" dirty="0">
                <a:solidFill>
                  <a:schemeClr val="bg2"/>
                </a:solidFill>
              </a:rPr>
              <a:t>Roadmap (not built yet)</a:t>
            </a:r>
            <a:endParaRPr lang="en-US" sz="2000" dirty="0"/>
          </a:p>
        </p:txBody>
      </p:sp>
      <p:sp>
        <p:nvSpPr>
          <p:cNvPr id="25" name="roadmap 1"/>
          <p:cNvSpPr/>
          <p:nvPr/>
        </p:nvSpPr>
        <p:spPr>
          <a:xfrm>
            <a:off x="548640" y="3474720"/>
            <a:ext cx="2514600" cy="777240"/>
          </a:xfrm>
          <a:prstGeom prst="roundRect">
            <a:avLst>
              <a:gd name="adj" fmla="val 14118"/>
            </a:avLst>
          </a:prstGeom>
          <a:solidFill>
            <a:schemeClr val="accent5">
              <a:alpha val="12000"/>
            </a:schemeClr>
          </a:solidFill>
          <a:ln w="12700">
            <a:solidFill>
              <a:srgbClr val="2A3A55"/>
            </a:solidFill>
            <a:prstDash val="solid"/>
          </a:ln>
        </p:spPr>
      </p:sp>
      <p:sp>
        <p:nvSpPr>
          <p:cNvPr id="26" name="Text 20"/>
          <p:cNvSpPr txBox="1"/>
          <p:nvPr/>
        </p:nvSpPr>
        <p:spPr>
          <a:xfrm>
            <a:off x="685800" y="3474720"/>
            <a:ext cx="2240280" cy="777240"/>
          </a:xfrm>
          <a:prstGeom prst="rect">
            <a:avLst/>
          </a:prstGeom>
          <a:noFill/>
          <a:ln/>
        </p:spPr>
        <p:txBody>
          <a:bodyPr wrap="square" lIns="0" tIns="0" rIns="0" bIns="0" rtlCol="0" anchor="ctr"/>
          <a:lstStyle/>
          <a:p>
            <a:pPr algn="ctr" indent="0" marL="0">
              <a:buNone/>
            </a:pPr>
            <a:r>
              <a:rPr lang="en-US" sz="1600" b="1" dirty="0">
                <a:solidFill>
                  <a:schemeClr val="bg1"/>
                </a:solidFill>
              </a:rPr>
              <a:t>More MCP connectors</a:t>
            </a:r>
            <a:endParaRPr lang="en-US" sz="1600" dirty="0"/>
          </a:p>
        </p:txBody>
      </p:sp>
      <p:sp>
        <p:nvSpPr>
          <p:cNvPr id="27" name="Shape 21"/>
          <p:cNvSpPr/>
          <p:nvPr/>
        </p:nvSpPr>
        <p:spPr>
          <a:xfrm>
            <a:off x="3090672" y="3858768"/>
            <a:ext cx="246888" cy="0"/>
          </a:xfrm>
          <a:prstGeom prst="line">
            <a:avLst/>
          </a:prstGeom>
          <a:noFill/>
          <a:ln w="19050">
            <a:solidFill>
              <a:schemeClr val="bg2"/>
            </a:solidFill>
            <a:prstDash val="solid"/>
            <a:tailEnd type="triangle"/>
          </a:ln>
        </p:spPr>
      </p:sp>
      <p:sp>
        <p:nvSpPr>
          <p:cNvPr id="28" name="roadmap 2"/>
          <p:cNvSpPr/>
          <p:nvPr/>
        </p:nvSpPr>
        <p:spPr>
          <a:xfrm>
            <a:off x="3364992" y="3474720"/>
            <a:ext cx="2514600" cy="777240"/>
          </a:xfrm>
          <a:prstGeom prst="roundRect">
            <a:avLst>
              <a:gd name="adj" fmla="val 14118"/>
            </a:avLst>
          </a:prstGeom>
          <a:solidFill>
            <a:schemeClr val="accent5">
              <a:alpha val="12000"/>
            </a:schemeClr>
          </a:solidFill>
          <a:ln w="12700">
            <a:solidFill>
              <a:srgbClr val="2A3A55"/>
            </a:solidFill>
            <a:prstDash val="solid"/>
          </a:ln>
        </p:spPr>
      </p:sp>
      <p:sp>
        <p:nvSpPr>
          <p:cNvPr id="29" name="Text 23"/>
          <p:cNvSpPr txBox="1"/>
          <p:nvPr/>
        </p:nvSpPr>
        <p:spPr>
          <a:xfrm>
            <a:off x="3502152" y="3474720"/>
            <a:ext cx="2240280" cy="777240"/>
          </a:xfrm>
          <a:prstGeom prst="rect">
            <a:avLst/>
          </a:prstGeom>
          <a:noFill/>
          <a:ln/>
        </p:spPr>
        <p:txBody>
          <a:bodyPr wrap="square" lIns="0" tIns="0" rIns="0" bIns="0" rtlCol="0" anchor="ctr"/>
          <a:lstStyle/>
          <a:p>
            <a:pPr algn="ctr" indent="0" marL="0">
              <a:buNone/>
            </a:pPr>
            <a:r>
              <a:rPr lang="en-US" sz="1600" b="1" dirty="0">
                <a:solidFill>
                  <a:schemeClr val="bg1"/>
                </a:solidFill>
              </a:rPr>
              <a:t>Verified approvals</a:t>
            </a:r>
            <a:endParaRPr lang="en-US" sz="1600" dirty="0"/>
          </a:p>
        </p:txBody>
      </p:sp>
      <p:sp>
        <p:nvSpPr>
          <p:cNvPr id="30" name="Shape 24"/>
          <p:cNvSpPr/>
          <p:nvPr/>
        </p:nvSpPr>
        <p:spPr>
          <a:xfrm>
            <a:off x="5907024" y="3858768"/>
            <a:ext cx="246888" cy="0"/>
          </a:xfrm>
          <a:prstGeom prst="line">
            <a:avLst/>
          </a:prstGeom>
          <a:noFill/>
          <a:ln w="19050">
            <a:solidFill>
              <a:schemeClr val="bg2"/>
            </a:solidFill>
            <a:prstDash val="solid"/>
            <a:tailEnd type="triangle"/>
          </a:ln>
        </p:spPr>
      </p:sp>
      <p:sp>
        <p:nvSpPr>
          <p:cNvPr id="31" name="roadmap 3"/>
          <p:cNvSpPr/>
          <p:nvPr/>
        </p:nvSpPr>
        <p:spPr>
          <a:xfrm>
            <a:off x="6181344" y="3474720"/>
            <a:ext cx="2514600" cy="777240"/>
          </a:xfrm>
          <a:prstGeom prst="roundRect">
            <a:avLst>
              <a:gd name="adj" fmla="val 14118"/>
            </a:avLst>
          </a:prstGeom>
          <a:solidFill>
            <a:schemeClr val="accent5">
              <a:alpha val="12000"/>
            </a:schemeClr>
          </a:solidFill>
          <a:ln w="12700">
            <a:solidFill>
              <a:srgbClr val="2A3A55"/>
            </a:solidFill>
            <a:prstDash val="solid"/>
          </a:ln>
        </p:spPr>
      </p:sp>
      <p:sp>
        <p:nvSpPr>
          <p:cNvPr id="32" name="Text 26"/>
          <p:cNvSpPr txBox="1"/>
          <p:nvPr/>
        </p:nvSpPr>
        <p:spPr>
          <a:xfrm>
            <a:off x="6318504" y="3474720"/>
            <a:ext cx="2240280" cy="777240"/>
          </a:xfrm>
          <a:prstGeom prst="rect">
            <a:avLst/>
          </a:prstGeom>
          <a:noFill/>
          <a:ln/>
        </p:spPr>
        <p:txBody>
          <a:bodyPr wrap="square" lIns="0" tIns="0" rIns="0" bIns="0" rtlCol="0" anchor="ctr"/>
          <a:lstStyle/>
          <a:p>
            <a:pPr algn="ctr" indent="0" marL="0">
              <a:buNone/>
            </a:pPr>
            <a:r>
              <a:rPr lang="en-US" sz="1600" b="1" dirty="0">
                <a:solidFill>
                  <a:schemeClr val="bg1"/>
                </a:solidFill>
              </a:rPr>
              <a:t>Production identity (OIDC/SSO)</a:t>
            </a:r>
            <a:endParaRPr lang="en-US" sz="1600" dirty="0"/>
          </a:p>
        </p:txBody>
      </p:sp>
      <p:sp>
        <p:nvSpPr>
          <p:cNvPr id="33" name="Shape 27"/>
          <p:cNvSpPr/>
          <p:nvPr/>
        </p:nvSpPr>
        <p:spPr>
          <a:xfrm>
            <a:off x="8723376" y="3858768"/>
            <a:ext cx="246888" cy="0"/>
          </a:xfrm>
          <a:prstGeom prst="line">
            <a:avLst/>
          </a:prstGeom>
          <a:noFill/>
          <a:ln w="19050">
            <a:solidFill>
              <a:schemeClr val="bg2"/>
            </a:solidFill>
            <a:prstDash val="solid"/>
            <a:tailEnd type="triangle"/>
          </a:ln>
        </p:spPr>
      </p:sp>
      <p:sp>
        <p:nvSpPr>
          <p:cNvPr id="34" name="roadmap 4"/>
          <p:cNvSpPr/>
          <p:nvPr/>
        </p:nvSpPr>
        <p:spPr>
          <a:xfrm>
            <a:off x="8997696" y="3474720"/>
            <a:ext cx="2514600" cy="777240"/>
          </a:xfrm>
          <a:prstGeom prst="roundRect">
            <a:avLst>
              <a:gd name="adj" fmla="val 14118"/>
            </a:avLst>
          </a:prstGeom>
          <a:solidFill>
            <a:schemeClr val="accent5">
              <a:alpha val="12000"/>
            </a:schemeClr>
          </a:solidFill>
          <a:ln w="12700">
            <a:solidFill>
              <a:srgbClr val="2A3A55"/>
            </a:solidFill>
            <a:prstDash val="solid"/>
          </a:ln>
        </p:spPr>
      </p:sp>
      <p:sp>
        <p:nvSpPr>
          <p:cNvPr id="35" name="Text 29"/>
          <p:cNvSpPr txBox="1"/>
          <p:nvPr/>
        </p:nvSpPr>
        <p:spPr>
          <a:xfrm>
            <a:off x="9134856" y="3474720"/>
            <a:ext cx="2240280" cy="777240"/>
          </a:xfrm>
          <a:prstGeom prst="rect">
            <a:avLst/>
          </a:prstGeom>
          <a:noFill/>
          <a:ln/>
        </p:spPr>
        <p:txBody>
          <a:bodyPr wrap="square" lIns="0" tIns="0" rIns="0" bIns="0" rtlCol="0" anchor="ctr"/>
          <a:lstStyle/>
          <a:p>
            <a:pPr algn="ctr" indent="0" marL="0">
              <a:buNone/>
            </a:pPr>
            <a:r>
              <a:rPr lang="en-US" sz="1600" b="1" dirty="0">
                <a:solidFill>
                  <a:schemeClr val="bg1"/>
                </a:solidFill>
              </a:rPr>
              <a:t>Policy as code</a:t>
            </a:r>
            <a:endParaRPr lang="en-US" sz="1600" dirty="0"/>
          </a:p>
        </p:txBody>
      </p:sp>
      <p:sp>
        <p:nvSpPr>
          <p:cNvPr id="36" name="Text 30"/>
          <p:cNvSpPr txBox="1"/>
          <p:nvPr/>
        </p:nvSpPr>
        <p:spPr>
          <a:xfrm>
            <a:off x="548640" y="4526280"/>
            <a:ext cx="11091672" cy="365760"/>
          </a:xfrm>
          <a:prstGeom prst="rect">
            <a:avLst/>
          </a:prstGeom>
          <a:noFill/>
          <a:ln/>
        </p:spPr>
        <p:txBody>
          <a:bodyPr wrap="square" lIns="0" tIns="0" rIns="0" bIns="0" rtlCol="0" anchor="t"/>
          <a:lstStyle/>
          <a:p>
            <a:pPr indent="0" marL="0">
              <a:buNone/>
            </a:pPr>
            <a:r>
              <a:rPr lang="en-US" sz="1400" dirty="0">
                <a:solidFill>
                  <a:schemeClr val="bg2"/>
                </a:solidFill>
              </a:rPr>
              <a:t>ScopeGuard · Agent Consent Studio · built and measured in one hackathon day</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C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copeGuard Night">
  <a:themeElements>
    <a:clrScheme name="ScopeGuard Night">
      <a:dk1>
        <a:srgbClr val="0B1220"/>
      </a:dk1>
      <a:lt1>
        <a:srgbClr val="F2F6FC"/>
      </a:lt1>
      <a:dk2>
        <a:srgbClr val="142033"/>
      </a:dk2>
      <a:lt2>
        <a:srgbClr val="9AA9C2"/>
      </a:lt2>
      <a:accent1>
        <a:srgbClr val="2DD4BF"/>
      </a:accent1>
      <a:accent2>
        <a:srgbClr val="FB7185"/>
      </a:accent2>
      <a:accent3>
        <a:srgbClr val="FBBF24"/>
      </a:accent3>
      <a:accent4>
        <a:srgbClr val="7DD3FC"/>
      </a:accent4>
      <a:accent5>
        <a:srgbClr val="C4B5FD"/>
      </a:accent5>
      <a:accent6>
        <a:srgbClr val="34D399"/>
      </a:accent6>
      <a:hlink>
        <a:srgbClr val="7DD3FC"/>
      </a:hlink>
      <a:folHlink>
        <a:srgbClr val="C4B5FD"/>
      </a:folHlink>
    </a:clrScheme>
    <a:fontScheme name="ScopeGuard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ScopeGuard pitch</dc:title>
  <dc:subject>Privacy-aware data firewall for MCP-powered AI agents</dc:subject>
  <dc:creator>ScopeGuard hackathon team</dc:creator>
  <cp:lastModifiedBy>ScopeGuard hackathon team</cp:lastModifiedBy>
  <cp:revision>1</cp:revision>
  <dcterms:created xsi:type="dcterms:W3CDTF">2026-10-17T13:38:27Z</dcterms:created>
  <dcterms:modified xsi:type="dcterms:W3CDTF">2026-10-17T13:38:27Z</dcterms:modified>
</cp:coreProperties>
</file>